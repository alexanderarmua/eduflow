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8229600" cx="14630400"/>
  <p:notesSz cx="8229600" cy="14630400"/>
  <p:embeddedFontLst>
    <p:embeddedFont>
      <p:font typeface="Merriweather Sans"/>
      <p:regular r:id="rId27"/>
      <p:bold r:id="rId28"/>
      <p:italic r:id="rId29"/>
      <p:boldItalic r:id="rId30"/>
    </p:embeddedFont>
    <p:embeddedFont>
      <p:font typeface="Merriweather Sans Medium"/>
      <p:regular r:id="rId31"/>
      <p:bold r:id="rId32"/>
      <p:italic r:id="rId33"/>
      <p:boldItalic r:id="rId34"/>
    </p:embeddedFont>
    <p:embeddedFont>
      <p:font typeface="Merriweath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E7GTmi1YcbaGgxPojDkwNf0L4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7DFFBB-8AFD-48B2-B4EF-CB78546C7C04}">
  <a:tblStyle styleId="{AC7DFFBB-8AFD-48B2-B4EF-CB78546C7C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erriweatherSans-bold.fntdata"/><Relationship Id="rId27" Type="http://schemas.openxmlformats.org/officeDocument/2006/relationships/font" Target="fonts/Merriweather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SansMedium-regular.fntdata"/><Relationship Id="rId30" Type="http://schemas.openxmlformats.org/officeDocument/2006/relationships/font" Target="fonts/MerriweatherSans-boldItalic.fntdata"/><Relationship Id="rId11" Type="http://schemas.openxmlformats.org/officeDocument/2006/relationships/slide" Target="slides/slide6.xml"/><Relationship Id="rId33" Type="http://schemas.openxmlformats.org/officeDocument/2006/relationships/font" Target="fonts/MerriweatherSansMedium-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SansMedium-bold.fntdata"/><Relationship Id="rId13" Type="http://schemas.openxmlformats.org/officeDocument/2006/relationships/slide" Target="slides/slide8.xml"/><Relationship Id="rId35" Type="http://schemas.openxmlformats.org/officeDocument/2006/relationships/font" Target="fonts/Merriweather-regular.fntdata"/><Relationship Id="rId12" Type="http://schemas.openxmlformats.org/officeDocument/2006/relationships/slide" Target="slides/slide7.xml"/><Relationship Id="rId34" Type="http://schemas.openxmlformats.org/officeDocument/2006/relationships/font" Target="fonts/MerriweatherSa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Merriweather-italic.fntdata"/><Relationship Id="rId14" Type="http://schemas.openxmlformats.org/officeDocument/2006/relationships/slide" Target="slides/slide9.xml"/><Relationship Id="rId36" Type="http://schemas.openxmlformats.org/officeDocument/2006/relationships/font" Target="fonts/Merriweather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Merriweather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819a1e23a_5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819a1e23a_5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58" name="Google Shape;58;g3a819a1e23a_5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19a1e23a_2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a819a1e23a_2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7" name="Google Shape;67;g3a819a1e23a_2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19a1e23a_3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a819a1e23a_3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  <p:sp>
        <p:nvSpPr>
          <p:cNvPr id="150" name="Google Shape;150;g3a819a1e23a_3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819a1e23a_7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a819a1e23a_7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67" name="Google Shape;167;g3a819a1e23a_7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8d873cfd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a8d873cfd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09" name="Google Shape;209;g3a8d873cfdc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19a1e23a_7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819a1e23a_7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19" name="Google Shape;219;g3a819a1e23a_7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819a1e23a_3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819a1e23a_3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37" name="Google Shape;237;g3a819a1e23a_3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8d873cfdc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a8d873cfdc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73" name="Google Shape;273;g3a8d873cfdc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904c1f9d5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904c1f9d5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01" name="Google Shape;301;g3a904c1f9d5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8d873cfdc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a8d873cfdc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21" name="Google Shape;321;g3a8d873cfdc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36" name="Google Shape;3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53" name="Google Shape;3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93a98438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a93a98438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93a98438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93a98438f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a93a98438f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a93a98438f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93a98438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a93a98438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a93a98438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a195326c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9a195326c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04" name="Google Shape;404;g39a195326c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Relationship Id="rId4" Type="http://schemas.openxmlformats.org/officeDocument/2006/relationships/image" Target="../media/image53.jpg"/><Relationship Id="rId9" Type="http://schemas.openxmlformats.org/officeDocument/2006/relationships/image" Target="../media/image13.jpg"/><Relationship Id="rId5" Type="http://schemas.openxmlformats.org/officeDocument/2006/relationships/image" Target="../media/image8.png"/><Relationship Id="rId6" Type="http://schemas.openxmlformats.org/officeDocument/2006/relationships/image" Target="../media/image29.png"/><Relationship Id="rId7" Type="http://schemas.openxmlformats.org/officeDocument/2006/relationships/image" Target="../media/image22.jpg"/><Relationship Id="rId8" Type="http://schemas.openxmlformats.org/officeDocument/2006/relationships/image" Target="../media/image2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6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Relationship Id="rId5" Type="http://schemas.openxmlformats.org/officeDocument/2006/relationships/image" Target="../media/image30.png"/><Relationship Id="rId6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Relationship Id="rId5" Type="http://schemas.openxmlformats.org/officeDocument/2006/relationships/image" Target="../media/image39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819a1e23a_5_8"/>
          <p:cNvSpPr/>
          <p:nvPr/>
        </p:nvSpPr>
        <p:spPr>
          <a:xfrm>
            <a:off x="1579626" y="2815400"/>
            <a:ext cx="6764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1" lang="en-US" sz="120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EduFlow</a:t>
            </a:r>
            <a:r>
              <a:rPr b="1" i="1" lang="en-US" sz="40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®</a:t>
            </a:r>
            <a:endParaRPr i="1" sz="40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61" name="Google Shape;61;g3a819a1e23a_5_8"/>
          <p:cNvSpPr/>
          <p:nvPr/>
        </p:nvSpPr>
        <p:spPr>
          <a:xfrm>
            <a:off x="1655475" y="4326963"/>
            <a:ext cx="71232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b="1" lang="en-US" sz="36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Más educación, menos gestión.</a:t>
            </a:r>
            <a:endParaRPr b="1" i="0" sz="36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62" name="Google Shape;62;g3a819a1e23a_5_8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g3a819a1e23a_5_8" title="edu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4376" y="1339851"/>
            <a:ext cx="4310725" cy="560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819a1e23a_2_33"/>
          <p:cNvSpPr/>
          <p:nvPr/>
        </p:nvSpPr>
        <p:spPr>
          <a:xfrm>
            <a:off x="4645947" y="130496"/>
            <a:ext cx="53385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56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Equipo</a:t>
            </a:r>
            <a:endParaRPr i="0" sz="5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70" name="Google Shape;70;g3a819a1e23a_2_33" title="Imagen de WhatsApp 2025-11-21 a las 21.25.41_f94e537d.jpg"/>
          <p:cNvPicPr preferRelativeResize="0"/>
          <p:nvPr/>
        </p:nvPicPr>
        <p:blipFill rotWithShape="1">
          <a:blip r:embed="rId3">
            <a:alphaModFix/>
          </a:blip>
          <a:srcRect b="21822" l="0" r="0" t="21817"/>
          <a:stretch/>
        </p:blipFill>
        <p:spPr>
          <a:xfrm>
            <a:off x="1002650" y="1972621"/>
            <a:ext cx="1674600" cy="167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1" name="Google Shape;71;g3a819a1e23a_2_33" title="Foto CV.jpg"/>
          <p:cNvPicPr preferRelativeResize="0"/>
          <p:nvPr/>
        </p:nvPicPr>
        <p:blipFill rotWithShape="1">
          <a:blip r:embed="rId4">
            <a:alphaModFix/>
          </a:blip>
          <a:srcRect b="61193" l="27874" r="24223" t="3259"/>
          <a:stretch/>
        </p:blipFill>
        <p:spPr>
          <a:xfrm>
            <a:off x="4777563" y="1972625"/>
            <a:ext cx="1695600" cy="167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2" name="Google Shape;72;g3a819a1e23a_2_33" title="pes.png"/>
          <p:cNvPicPr preferRelativeResize="0"/>
          <p:nvPr/>
        </p:nvPicPr>
        <p:blipFill rotWithShape="1">
          <a:blip r:embed="rId5">
            <a:alphaModFix/>
          </a:blip>
          <a:srcRect b="20456" l="16186" r="18200" t="16678"/>
          <a:stretch/>
        </p:blipFill>
        <p:spPr>
          <a:xfrm>
            <a:off x="4779525" y="5019716"/>
            <a:ext cx="1691700" cy="1678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3" name="Google Shape;73;g3a819a1e23a_2_33" title="me.png"/>
          <p:cNvPicPr preferRelativeResize="0"/>
          <p:nvPr/>
        </p:nvPicPr>
        <p:blipFill rotWithShape="1">
          <a:blip r:embed="rId6">
            <a:alphaModFix/>
          </a:blip>
          <a:srcRect b="12315" l="0" r="0" t="12315"/>
          <a:stretch/>
        </p:blipFill>
        <p:spPr>
          <a:xfrm>
            <a:off x="8420000" y="5019868"/>
            <a:ext cx="1674600" cy="167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4" name="Google Shape;74;g3a819a1e23a_2_33" title="imagen1 - copia.jpg"/>
          <p:cNvPicPr preferRelativeResize="0"/>
          <p:nvPr/>
        </p:nvPicPr>
        <p:blipFill rotWithShape="1">
          <a:blip r:embed="rId7">
            <a:alphaModFix/>
          </a:blip>
          <a:srcRect b="12422" l="0" r="0" t="12429"/>
          <a:stretch/>
        </p:blipFill>
        <p:spPr>
          <a:xfrm>
            <a:off x="11760325" y="5019871"/>
            <a:ext cx="1674600" cy="167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5" name="Google Shape;75;g3a819a1e23a_2_33" title="1643045424206.jpeg"/>
          <p:cNvPicPr preferRelativeResize="0"/>
          <p:nvPr/>
        </p:nvPicPr>
        <p:blipFill rotWithShape="1">
          <a:blip r:embed="rId8">
            <a:alphaModFix/>
          </a:blip>
          <a:srcRect b="0" l="99" r="99" t="0"/>
          <a:stretch/>
        </p:blipFill>
        <p:spPr>
          <a:xfrm>
            <a:off x="11876975" y="1972621"/>
            <a:ext cx="1674600" cy="1677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6" name="Google Shape;76;g3a819a1e23a_2_33" title="foto_cv.jpg"/>
          <p:cNvPicPr preferRelativeResize="0"/>
          <p:nvPr/>
        </p:nvPicPr>
        <p:blipFill rotWithShape="1">
          <a:blip r:embed="rId9">
            <a:alphaModFix/>
          </a:blip>
          <a:srcRect b="12422" l="0" r="0" t="12429"/>
          <a:stretch/>
        </p:blipFill>
        <p:spPr>
          <a:xfrm>
            <a:off x="8420000" y="1972634"/>
            <a:ext cx="1674600" cy="1677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7" name="Google Shape;77;g3a819a1e23a_2_33"/>
          <p:cNvSpPr txBox="1"/>
          <p:nvPr/>
        </p:nvSpPr>
        <p:spPr>
          <a:xfrm>
            <a:off x="-9562" y="3753221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Germán Crisci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CEO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78" name="Google Shape;78;g3a819a1e23a_2_33"/>
          <p:cNvSpPr txBox="1"/>
          <p:nvPr/>
        </p:nvSpPr>
        <p:spPr>
          <a:xfrm>
            <a:off x="3775863" y="3753221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Rodrigo Vila Brinusio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79" name="Google Shape;79;g3a819a1e23a_2_33"/>
          <p:cNvSpPr txBox="1"/>
          <p:nvPr/>
        </p:nvSpPr>
        <p:spPr>
          <a:xfrm>
            <a:off x="7474863" y="3753221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Tomás Margiottiello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CFO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80" name="Google Shape;80;g3a819a1e23a_2_33"/>
          <p:cNvSpPr txBox="1"/>
          <p:nvPr/>
        </p:nvSpPr>
        <p:spPr>
          <a:xfrm>
            <a:off x="10940963" y="3753221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Ornella Fasciolo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CPO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81" name="Google Shape;81;g3a819a1e23a_2_33"/>
          <p:cNvSpPr txBox="1"/>
          <p:nvPr/>
        </p:nvSpPr>
        <p:spPr>
          <a:xfrm>
            <a:off x="-9525" y="6730325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Alexander Armua 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CTO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82" name="Google Shape;82;g3a819a1e23a_2_33"/>
          <p:cNvSpPr txBox="1"/>
          <p:nvPr/>
        </p:nvSpPr>
        <p:spPr>
          <a:xfrm>
            <a:off x="3775863" y="6686446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Pablo Saldivia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CHRO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83" name="Google Shape;83;g3a819a1e23a_2_33"/>
          <p:cNvSpPr txBox="1"/>
          <p:nvPr/>
        </p:nvSpPr>
        <p:spPr>
          <a:xfrm>
            <a:off x="7407788" y="6686446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Diego Anazonian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CSO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84" name="Google Shape;84;g3a819a1e23a_2_33"/>
          <p:cNvSpPr txBox="1"/>
          <p:nvPr/>
        </p:nvSpPr>
        <p:spPr>
          <a:xfrm>
            <a:off x="10864763" y="6686446"/>
            <a:ext cx="36990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Pablo Hervida</a:t>
            </a:r>
            <a:endParaRPr b="1"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7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Key Account Manager</a:t>
            </a:r>
            <a:endParaRPr b="1" sz="2200">
              <a:solidFill>
                <a:srgbClr val="17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85" name="Google Shape;85;g3a819a1e23a_2_33"/>
          <p:cNvPicPr preferRelativeResize="0"/>
          <p:nvPr/>
        </p:nvPicPr>
        <p:blipFill rotWithShape="1">
          <a:blip r:embed="rId10">
            <a:alphaModFix/>
          </a:blip>
          <a:srcRect b="2084" l="2078" r="39194" t="39188"/>
          <a:stretch/>
        </p:blipFill>
        <p:spPr>
          <a:xfrm>
            <a:off x="1003250" y="5035925"/>
            <a:ext cx="1673400" cy="1645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6" name="Google Shape;86;g3a819a1e23a_2_33"/>
          <p:cNvSpPr/>
          <p:nvPr/>
        </p:nvSpPr>
        <p:spPr>
          <a:xfrm>
            <a:off x="12011700" y="7739100"/>
            <a:ext cx="2618700" cy="49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6178500" y="846430"/>
            <a:ext cx="77598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850"/>
              <a:buFont typeface="Instrument Sans SemiBold"/>
              <a:buNone/>
            </a:pPr>
            <a:r>
              <a:rPr b="1" i="0" lang="en-US" sz="5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El Problema Actual</a:t>
            </a:r>
            <a:r>
              <a:rPr b="1" i="0" lang="en-US" sz="42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1" i="0" lang="en-US" sz="3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Fragmentación y Desconexión</a:t>
            </a:r>
            <a:endParaRPr i="0" sz="3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188025" y="3310025"/>
            <a:ext cx="3565200" cy="1236000"/>
          </a:xfrm>
          <a:prstGeom prst="roundRect">
            <a:avLst>
              <a:gd fmla="val 5142" name="adj"/>
            </a:avLst>
          </a:prstGeom>
          <a:solidFill>
            <a:srgbClr val="FFFFFF"/>
          </a:solidFill>
          <a:ln cap="flat" cmpd="sng" w="22850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155650" y="3310175"/>
            <a:ext cx="91500" cy="1235700"/>
          </a:xfrm>
          <a:prstGeom prst="roundRect">
            <a:avLst>
              <a:gd fmla="val 194646" name="adj"/>
            </a:avLst>
          </a:prstGeom>
          <a:solidFill>
            <a:srgbClr val="00C5BB"/>
          </a:solidFill>
          <a:ln cap="flat" cmpd="sng" w="9525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6449770" y="3384375"/>
            <a:ext cx="3230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900"/>
              <a:buFont typeface="Instrument Sans SemiBold"/>
              <a:buNone/>
            </a:pP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60 horas por mes</a:t>
            </a:r>
            <a:endParaRPr b="1"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900"/>
              <a:buFont typeface="Instrument Sans SemiBold"/>
              <a:buNone/>
            </a:pP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pérdidas</a:t>
            </a: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en tareas manuales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10134325" y="3767375"/>
            <a:ext cx="3781200" cy="1235700"/>
          </a:xfrm>
          <a:prstGeom prst="roundRect">
            <a:avLst>
              <a:gd fmla="val 5142" name="adj"/>
            </a:avLst>
          </a:prstGeom>
          <a:solidFill>
            <a:srgbClr val="FFFFFF"/>
          </a:solidFill>
          <a:ln cap="flat" cmpd="sng" w="22850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0134325" y="3767375"/>
            <a:ext cx="91500" cy="1236000"/>
          </a:xfrm>
          <a:prstGeom prst="roundRect">
            <a:avLst>
              <a:gd fmla="val 194646" name="adj"/>
            </a:avLst>
          </a:prstGeom>
          <a:solidFill>
            <a:srgbClr val="00C5BB"/>
          </a:solidFill>
          <a:ln cap="flat" cmpd="sng" w="9525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388950" y="3841575"/>
            <a:ext cx="3426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900"/>
              <a:buFont typeface="Instrument Sans SemiBold"/>
              <a:buNone/>
            </a:pP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40% de postulantes perdidos debido a procesos lentos o confusos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155650" y="5108375"/>
            <a:ext cx="3565200" cy="1235700"/>
          </a:xfrm>
          <a:prstGeom prst="roundRect">
            <a:avLst>
              <a:gd fmla="val 6037" name="adj"/>
            </a:avLst>
          </a:prstGeom>
          <a:solidFill>
            <a:srgbClr val="FFFFFF"/>
          </a:solidFill>
          <a:ln cap="flat" cmpd="sng" w="22850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155675" y="5108375"/>
            <a:ext cx="91500" cy="1236000"/>
          </a:xfrm>
          <a:prstGeom prst="roundRect">
            <a:avLst>
              <a:gd fmla="val 194646" name="adj"/>
            </a:avLst>
          </a:prstGeom>
          <a:solidFill>
            <a:srgbClr val="00C5BB"/>
          </a:solidFill>
          <a:ln cap="flat" cmpd="sng" w="9525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396800" y="5339967"/>
            <a:ext cx="27603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900"/>
              <a:buFont typeface="Instrument Sans SemiBold"/>
              <a:buNone/>
            </a:pP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Creciente demanda por escuelas privadas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0134325" y="5565576"/>
            <a:ext cx="3781200" cy="1235700"/>
          </a:xfrm>
          <a:prstGeom prst="roundRect">
            <a:avLst>
              <a:gd fmla="val 6037" name="adj"/>
            </a:avLst>
          </a:prstGeom>
          <a:solidFill>
            <a:srgbClr val="FFFFFF"/>
          </a:solidFill>
          <a:ln cap="flat" cmpd="sng" w="22850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10110413" y="5565425"/>
            <a:ext cx="91500" cy="1236000"/>
          </a:xfrm>
          <a:prstGeom prst="roundRect">
            <a:avLst>
              <a:gd fmla="val 194646" name="adj"/>
            </a:avLst>
          </a:prstGeom>
          <a:solidFill>
            <a:srgbClr val="00C5BB"/>
          </a:solidFill>
          <a:ln cap="flat" cmpd="sng" w="9525">
            <a:solidFill>
              <a:srgbClr val="00C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10375475" y="5797167"/>
            <a:ext cx="27603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900"/>
              <a:buFont typeface="Instrument Sans SemiBold"/>
              <a:buNone/>
            </a:pP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Excel para cobranzas y papel para legajos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793800" y="702875"/>
            <a:ext cx="135105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6150"/>
              <a:buFont typeface="Instrument Sans SemiBold"/>
              <a:buNone/>
            </a:pPr>
            <a:r>
              <a:rPr i="0" lang="en-US" sz="61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Nuestra Solución</a:t>
            </a:r>
            <a:r>
              <a:rPr i="0" lang="en-US" sz="61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:</a:t>
            </a:r>
            <a:r>
              <a:rPr b="1" i="0" lang="en-US" sz="61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1" i="1" lang="en-US" sz="61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EduFlow Platform</a:t>
            </a:r>
            <a:r>
              <a:rPr b="1" i="1" lang="en-US" sz="20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®</a:t>
            </a:r>
            <a:endParaRPr i="1" sz="20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93800" y="2012575"/>
            <a:ext cx="96303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Una plataforma integral </a:t>
            </a:r>
            <a:r>
              <a:rPr b="1"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SaaS </a:t>
            </a:r>
            <a:r>
              <a:rPr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construida</a:t>
            </a:r>
            <a:br>
              <a:rPr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sobre la robustez de </a:t>
            </a:r>
            <a:r>
              <a:rPr b="1" i="1"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Salesforce Education Cloud</a:t>
            </a:r>
            <a:r>
              <a:rPr lang="en-US" sz="2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.</a:t>
            </a:r>
            <a:endParaRPr sz="27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653825" y="4026200"/>
            <a:ext cx="6172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Centralización:</a:t>
            </a:r>
            <a:r>
              <a:rPr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legajo 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único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digital del alumno.</a:t>
            </a:r>
            <a:endParaRPr sz="19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116" name="Google Shape;116;p3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400" y="4817896"/>
            <a:ext cx="576650" cy="5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400" y="5667000"/>
            <a:ext cx="576650" cy="5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400" y="6472600"/>
            <a:ext cx="576650" cy="5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75" y="3968796"/>
            <a:ext cx="576650" cy="5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1653825" y="4852625"/>
            <a:ext cx="637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Comunicación</a:t>
            </a:r>
            <a:r>
              <a:rPr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: </a:t>
            </a:r>
            <a:r>
              <a:rPr i="1"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Whatsapp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Email y portal integrados.</a:t>
            </a:r>
            <a:endParaRPr sz="19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653825" y="5679025"/>
            <a:ext cx="6172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Automatización</a:t>
            </a:r>
            <a:r>
              <a:rPr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: 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alertas y seguimiento 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académico.</a:t>
            </a:r>
            <a:endParaRPr sz="19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653825" y="6522421"/>
            <a:ext cx="7853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Escalabilidad</a:t>
            </a:r>
            <a:r>
              <a:rPr lang="en-US" sz="19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: </a:t>
            </a:r>
            <a:r>
              <a:rPr lang="en-US" sz="19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tecnología de clase mundial adaptada localmente.</a:t>
            </a:r>
            <a:endParaRPr sz="19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1375" y="2812850"/>
            <a:ext cx="4961925" cy="49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0391" y="3086814"/>
            <a:ext cx="4569501" cy="456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391" y="3086814"/>
            <a:ext cx="4569501" cy="456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0391" y="3086814"/>
            <a:ext cx="4569501" cy="456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0441" y="3086814"/>
            <a:ext cx="4569501" cy="456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0391" y="3086814"/>
            <a:ext cx="4569501" cy="4569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634850" y="466124"/>
            <a:ext cx="13056000" cy="16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Propuesta de Valor</a:t>
            </a:r>
            <a:endParaRPr b="1" sz="54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00"/>
              <a:buFont typeface="Instrument Sans SemiBold"/>
              <a:buNone/>
            </a:pPr>
            <a:r>
              <a:rPr b="1" i="0" lang="en-US" sz="3200" u="none" cap="none" strike="noStrike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Más Educación, Menos Gestión</a:t>
            </a:r>
            <a:endParaRPr i="0" sz="32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34850" y="2397800"/>
            <a:ext cx="13056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i="0" lang="en-US" sz="220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Simplificamos la administración para que las escuelas se enfoquen en lo importante.</a:t>
            </a:r>
            <a:endParaRPr i="0" sz="22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714952" y="4045198"/>
            <a:ext cx="33780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Sistema</a:t>
            </a:r>
            <a:br>
              <a:rPr b="1" lang="en-US" sz="26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Integrado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810375" y="3323675"/>
            <a:ext cx="44043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Comunicación</a:t>
            </a:r>
            <a:endParaRPr b="1" sz="26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Multicanal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771874" y="5079345"/>
            <a:ext cx="32493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IA para Soporte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683603" y="6830684"/>
            <a:ext cx="3553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lang="en-US" sz="26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Analítica</a:t>
            </a:r>
            <a:endParaRPr b="1" sz="26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Predictiva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233903" y="6072040"/>
            <a:ext cx="37965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Transparencia</a:t>
            </a:r>
            <a:endParaRPr b="1" sz="26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2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Total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2011700" y="7295675"/>
            <a:ext cx="2618700" cy="93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7" title="analisis-de-los-dato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70275" y="6439050"/>
            <a:ext cx="584451" cy="58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 title="asistente-de-ai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73625" y="5079350"/>
            <a:ext cx="584451" cy="58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 title="servicio-al-client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70275" y="3754425"/>
            <a:ext cx="584451" cy="58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 title="sistema-integrado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21650" y="4251875"/>
            <a:ext cx="584451" cy="58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 title="transparencia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14200" y="5878662"/>
            <a:ext cx="584451" cy="58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19a1e23a_3_34"/>
          <p:cNvSpPr/>
          <p:nvPr/>
        </p:nvSpPr>
        <p:spPr>
          <a:xfrm>
            <a:off x="7282750" y="2272375"/>
            <a:ext cx="6533700" cy="17655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 cap="flat" cmpd="sng" w="28575">
            <a:solidFill>
              <a:srgbClr val="00827C"/>
            </a:solidFill>
            <a:prstDash val="solid"/>
            <a:round/>
            <a:headEnd len="sm" w="sm" type="none"/>
            <a:tailEnd len="sm" w="sm" type="none"/>
          </a:ln>
          <a:effectLst>
            <a:outerShdw blurRad="200025" rotWithShape="0" algn="bl" dir="5400000" dist="47625">
              <a:srgbClr val="1E3063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a819a1e23a_3_34"/>
          <p:cNvSpPr/>
          <p:nvPr/>
        </p:nvSpPr>
        <p:spPr>
          <a:xfrm>
            <a:off x="793800" y="662923"/>
            <a:ext cx="90990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Oportunidad de Mercado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54" name="Google Shape;154;g3a819a1e23a_3_34"/>
          <p:cNvSpPr/>
          <p:nvPr/>
        </p:nvSpPr>
        <p:spPr>
          <a:xfrm>
            <a:off x="12804025" y="7732400"/>
            <a:ext cx="1746600" cy="42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819a1e23a_3_34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819a1e23a_3_34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819a1e23a_3_34"/>
          <p:cNvSpPr txBox="1"/>
          <p:nvPr/>
        </p:nvSpPr>
        <p:spPr>
          <a:xfrm>
            <a:off x="4874525" y="5332100"/>
            <a:ext cx="61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819a1e23a_3_34"/>
          <p:cNvSpPr/>
          <p:nvPr/>
        </p:nvSpPr>
        <p:spPr>
          <a:xfrm>
            <a:off x="7282650" y="2512350"/>
            <a:ext cx="6533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565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37,63 mM ARS</a:t>
            </a:r>
            <a:endParaRPr i="0" sz="565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59" name="Google Shape;159;g3a819a1e23a_3_34"/>
          <p:cNvSpPr/>
          <p:nvPr/>
        </p:nvSpPr>
        <p:spPr>
          <a:xfrm>
            <a:off x="7805117" y="3453001"/>
            <a:ext cx="5432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19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TAMAÑO DE MERCADO FACTIBLE ACTUAL</a:t>
            </a:r>
            <a:endParaRPr b="1" i="0" sz="19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60" name="Google Shape;160;g3a819a1e23a_3_34"/>
          <p:cNvSpPr/>
          <p:nvPr/>
        </p:nvSpPr>
        <p:spPr>
          <a:xfrm>
            <a:off x="7282650" y="4507000"/>
            <a:ext cx="6533700" cy="30867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 cap="flat" cmpd="sng" w="19050">
            <a:solidFill>
              <a:srgbClr val="00324F"/>
            </a:solidFill>
            <a:prstDash val="solid"/>
            <a:round/>
            <a:headEnd len="sm" w="sm" type="none"/>
            <a:tailEnd len="sm" w="sm" type="none"/>
          </a:ln>
          <a:effectLst>
            <a:outerShdw blurRad="257175" rotWithShape="0" algn="bl" dir="3540000" dist="76200">
              <a:srgbClr val="1E3063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819a1e23a_3_34"/>
          <p:cNvSpPr txBox="1"/>
          <p:nvPr/>
        </p:nvSpPr>
        <p:spPr>
          <a:xfrm>
            <a:off x="7805125" y="4799625"/>
            <a:ext cx="5570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MERCADO OBJETIVO</a:t>
            </a:r>
            <a:r>
              <a:rPr b="1" lang="en-US" sz="27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(AMBA)</a:t>
            </a:r>
            <a:endParaRPr b="1" sz="2700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62" name="Google Shape;162;g3a819a1e23a_3_34"/>
          <p:cNvSpPr txBox="1"/>
          <p:nvPr/>
        </p:nvSpPr>
        <p:spPr>
          <a:xfrm>
            <a:off x="7800975" y="5400075"/>
            <a:ext cx="6172200" cy="1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EE6FD"/>
              </a:buClr>
              <a:buSzPts val="2200"/>
              <a:buChar char="●"/>
            </a:pPr>
            <a:r>
              <a:rPr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Total instituciones: </a:t>
            </a:r>
            <a:r>
              <a:rPr b="1"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4.544</a:t>
            </a:r>
            <a:endParaRPr b="1" sz="2200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EE6FD"/>
              </a:buClr>
              <a:buSzPts val="2200"/>
              <a:buChar char="●"/>
            </a:pPr>
            <a:r>
              <a:rPr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Mercado Factible: </a:t>
            </a:r>
            <a:r>
              <a:rPr b="1"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727</a:t>
            </a:r>
            <a:r>
              <a:rPr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 sz="2200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CEE6FD"/>
              </a:buClr>
              <a:buSzPts val="2200"/>
              <a:buChar char="●"/>
            </a:pPr>
            <a:r>
              <a:rPr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Meta a 5 años: </a:t>
            </a:r>
            <a:r>
              <a:rPr b="1"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80 Clientes</a:t>
            </a:r>
            <a:r>
              <a:rPr lang="en-US" sz="2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Integrales (11% SOM).</a:t>
            </a:r>
            <a:endParaRPr sz="2200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163" name="Google Shape;163;g3a819a1e23a_3_34" title="Icono.png"/>
          <p:cNvPicPr preferRelativeResize="0"/>
          <p:nvPr/>
        </p:nvPicPr>
        <p:blipFill rotWithShape="1">
          <a:blip r:embed="rId3">
            <a:alphaModFix/>
          </a:blip>
          <a:srcRect b="179" l="0" r="0" t="169"/>
          <a:stretch/>
        </p:blipFill>
        <p:spPr>
          <a:xfrm>
            <a:off x="979600" y="2195325"/>
            <a:ext cx="5099100" cy="5045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819a1e23a_7_29"/>
          <p:cNvSpPr/>
          <p:nvPr/>
        </p:nvSpPr>
        <p:spPr>
          <a:xfrm>
            <a:off x="793800" y="496250"/>
            <a:ext cx="12986700" cy="16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Modelo de Negocio H</a:t>
            </a:r>
            <a:r>
              <a:rPr b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íbrido</a:t>
            </a:r>
            <a:br>
              <a:rPr b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y Oportunidad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70" name="Google Shape;170;g3a819a1e23a_7_29"/>
          <p:cNvSpPr/>
          <p:nvPr/>
        </p:nvSpPr>
        <p:spPr>
          <a:xfrm>
            <a:off x="793790" y="234446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i="0" lang="en-US" sz="200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Suscripciones SaaS con alto potencial en el mercado educativo privado argentino.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71" name="Google Shape;171;g3a819a1e23a_7_29"/>
          <p:cNvSpPr/>
          <p:nvPr/>
        </p:nvSpPr>
        <p:spPr>
          <a:xfrm>
            <a:off x="12804025" y="7732400"/>
            <a:ext cx="1746600" cy="42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a819a1e23a_7_29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a819a1e23a_7_29"/>
          <p:cNvSpPr/>
          <p:nvPr/>
        </p:nvSpPr>
        <p:spPr>
          <a:xfrm>
            <a:off x="7481385" y="3150625"/>
            <a:ext cx="6620700" cy="41511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 cap="flat" cmpd="sng" w="9525">
            <a:solidFill>
              <a:srgbClr val="00827C"/>
            </a:solidFill>
            <a:prstDash val="solid"/>
            <a:round/>
            <a:headEnd len="sm" w="sm" type="none"/>
            <a:tailEnd len="sm" w="sm" type="none"/>
          </a:ln>
          <a:effectLst>
            <a:outerShdw blurRad="371475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819a1e23a_7_29"/>
          <p:cNvSpPr/>
          <p:nvPr/>
        </p:nvSpPr>
        <p:spPr>
          <a:xfrm>
            <a:off x="470700" y="3150625"/>
            <a:ext cx="6620700" cy="41511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 cap="flat" cmpd="sng" w="9525">
            <a:solidFill>
              <a:srgbClr val="003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819a1e23a_7_29"/>
          <p:cNvSpPr/>
          <p:nvPr/>
        </p:nvSpPr>
        <p:spPr>
          <a:xfrm>
            <a:off x="857250" y="3340838"/>
            <a:ext cx="5871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i="1" lang="en-US" sz="36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EduFlow Platform</a:t>
            </a:r>
            <a:r>
              <a:rPr b="1" i="1" lang="en-US" sz="16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®</a:t>
            </a:r>
            <a:endParaRPr i="1" sz="1600" u="none" cap="none" strike="noStrike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76" name="Google Shape;176;g3a819a1e23a_7_29"/>
          <p:cNvSpPr/>
          <p:nvPr/>
        </p:nvSpPr>
        <p:spPr>
          <a:xfrm>
            <a:off x="921200" y="5581300"/>
            <a:ext cx="60849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EE6FD"/>
              </a:buClr>
              <a:buSzPts val="1750"/>
              <a:buFont typeface="Merriweather Sans Medium"/>
              <a:buChar char="•"/>
            </a:pPr>
            <a:r>
              <a:rPr lang="en-US" sz="1750">
                <a:solidFill>
                  <a:srgbClr val="CEE6FD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Solución “Llave en mano”.</a:t>
            </a:r>
            <a:endParaRPr sz="1750">
              <a:solidFill>
                <a:srgbClr val="CEE6FD"/>
              </a:solidFill>
              <a:latin typeface="Merriweather Sans Medium"/>
              <a:ea typeface="Merriweather Sans Medium"/>
              <a:cs typeface="Merriweather Sans Medium"/>
              <a:sym typeface="Merriweather Sans Medium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EE6FD"/>
              </a:buClr>
              <a:buSzPts val="1750"/>
              <a:buFont typeface="Merriweather Sans Medium"/>
              <a:buChar char="•"/>
            </a:pPr>
            <a:r>
              <a:rPr lang="en-US" sz="1750">
                <a:solidFill>
                  <a:srgbClr val="CEE6FD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Soporte </a:t>
            </a:r>
            <a:r>
              <a:rPr i="1" lang="en-US" sz="1750">
                <a:solidFill>
                  <a:srgbClr val="CEE6FD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Premium</a:t>
            </a:r>
            <a:r>
              <a:rPr lang="en-US" sz="1750">
                <a:solidFill>
                  <a:srgbClr val="CEE6FD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.</a:t>
            </a:r>
            <a:endParaRPr sz="1750">
              <a:solidFill>
                <a:srgbClr val="CEE6FD"/>
              </a:solidFill>
              <a:latin typeface="Merriweather Sans Medium"/>
              <a:ea typeface="Merriweather Sans Medium"/>
              <a:cs typeface="Merriweather Sans Medium"/>
              <a:sym typeface="Merriweather Sans Medium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EE6FD"/>
              </a:buClr>
              <a:buSzPts val="1750"/>
              <a:buFont typeface="Instrument Sans Medium"/>
              <a:buChar char="•"/>
            </a:pPr>
            <a:r>
              <a:rPr lang="en-US" sz="1750">
                <a:solidFill>
                  <a:srgbClr val="CEE6FD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Módulos a medida: </a:t>
            </a:r>
            <a:r>
              <a:rPr b="1" lang="en-US" sz="175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50k</a:t>
            </a:r>
            <a:r>
              <a:rPr lang="en-US" sz="1750">
                <a:solidFill>
                  <a:srgbClr val="CEE6FD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 ARS/hora.</a:t>
            </a:r>
            <a:endParaRPr sz="1750">
              <a:solidFill>
                <a:srgbClr val="CEE6FD"/>
              </a:solidFill>
              <a:latin typeface="Merriweather Sans Medium"/>
              <a:ea typeface="Merriweather Sans Medium"/>
              <a:cs typeface="Merriweather Sans Medium"/>
              <a:sym typeface="Merriweather Sans Medium"/>
            </a:endParaRPr>
          </a:p>
        </p:txBody>
      </p:sp>
      <p:sp>
        <p:nvSpPr>
          <p:cNvPr id="177" name="Google Shape;177;g3a819a1e23a_7_29"/>
          <p:cNvSpPr/>
          <p:nvPr/>
        </p:nvSpPr>
        <p:spPr>
          <a:xfrm>
            <a:off x="8020050" y="3336375"/>
            <a:ext cx="58710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i="1" lang="en-US" sz="36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EduFlow Services</a:t>
            </a:r>
            <a:r>
              <a:rPr b="1" i="1" lang="en-US" sz="16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®</a:t>
            </a:r>
            <a:endParaRPr i="1" sz="16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78" name="Google Shape;178;g3a819a1e23a_7_29"/>
          <p:cNvSpPr/>
          <p:nvPr/>
        </p:nvSpPr>
        <p:spPr>
          <a:xfrm>
            <a:off x="8063250" y="5581325"/>
            <a:ext cx="59694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4FDFA"/>
              </a:buClr>
              <a:buSzPts val="1750"/>
              <a:buFont typeface="Merriweather Sans Medium"/>
              <a:buChar char="•"/>
            </a:pPr>
            <a:r>
              <a:rPr lang="en-US" sz="1750">
                <a:solidFill>
                  <a:srgbClr val="C4FDFA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5 Módulos: Admisión, Reportes, entre otros.</a:t>
            </a:r>
            <a:endParaRPr sz="1750">
              <a:solidFill>
                <a:srgbClr val="C4FDFA"/>
              </a:solidFill>
              <a:latin typeface="Merriweather Sans Medium"/>
              <a:ea typeface="Merriweather Sans Medium"/>
              <a:cs typeface="Merriweather Sans Medium"/>
              <a:sym typeface="Merriweather Sans Medium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4FDFA"/>
              </a:buClr>
              <a:buSzPts val="1750"/>
              <a:buFont typeface="Merriweather Sans Medium"/>
              <a:buChar char="•"/>
            </a:pPr>
            <a:r>
              <a:rPr lang="en-US" sz="1750">
                <a:solidFill>
                  <a:srgbClr val="C4FDFA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Integrable a sistemas </a:t>
            </a:r>
            <a:r>
              <a:rPr i="1" lang="en-US" sz="1750">
                <a:solidFill>
                  <a:srgbClr val="C4FDFA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legacy</a:t>
            </a:r>
            <a:r>
              <a:rPr lang="en-US" sz="1750">
                <a:solidFill>
                  <a:srgbClr val="C4FDFA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.</a:t>
            </a:r>
            <a:endParaRPr sz="1750">
              <a:solidFill>
                <a:srgbClr val="C4FDFA"/>
              </a:solidFill>
              <a:latin typeface="Merriweather Sans Medium"/>
              <a:ea typeface="Merriweather Sans Medium"/>
              <a:cs typeface="Merriweather Sans Medium"/>
              <a:sym typeface="Merriweather Sans Medium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4FDFA"/>
              </a:buClr>
              <a:buSzPts val="1750"/>
              <a:buFont typeface="Merriweather Sans Medium"/>
              <a:buChar char="•"/>
            </a:pPr>
            <a:r>
              <a:rPr lang="en-US" sz="1750">
                <a:solidFill>
                  <a:srgbClr val="C4FDFA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Entrada de bajo riesgo.</a:t>
            </a:r>
            <a:endParaRPr sz="1750">
              <a:solidFill>
                <a:srgbClr val="C4FDFA"/>
              </a:solidFill>
              <a:latin typeface="Merriweather Sans Medium"/>
              <a:ea typeface="Merriweather Sans Medium"/>
              <a:cs typeface="Merriweather Sans Medium"/>
              <a:sym typeface="Merriweather Sans Medium"/>
            </a:endParaRPr>
          </a:p>
        </p:txBody>
      </p:sp>
      <p:sp>
        <p:nvSpPr>
          <p:cNvPr id="179" name="Google Shape;179;g3a819a1e23a_7_29"/>
          <p:cNvSpPr txBox="1"/>
          <p:nvPr/>
        </p:nvSpPr>
        <p:spPr>
          <a:xfrm>
            <a:off x="808050" y="3903350"/>
            <a:ext cx="59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Suscripción Mensual (SaaS)</a:t>
            </a:r>
            <a:endParaRPr sz="1800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80" name="Google Shape;180;g3a819a1e23a_7_29"/>
          <p:cNvSpPr txBox="1"/>
          <p:nvPr/>
        </p:nvSpPr>
        <p:spPr>
          <a:xfrm>
            <a:off x="7910850" y="3925138"/>
            <a:ext cx="59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Módulos individuales (Add-ons)</a:t>
            </a:r>
            <a:endParaRPr sz="1800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81" name="Google Shape;181;g3a819a1e23a_7_29"/>
          <p:cNvSpPr txBox="1"/>
          <p:nvPr/>
        </p:nvSpPr>
        <p:spPr>
          <a:xfrm>
            <a:off x="808043" y="4399613"/>
            <a:ext cx="596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$2,5M - $5M</a:t>
            </a:r>
            <a:r>
              <a:rPr lang="en-US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800">
                <a:solidFill>
                  <a:srgbClr val="CEE6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ARS/mes</a:t>
            </a:r>
            <a:endParaRPr sz="1800">
              <a:solidFill>
                <a:srgbClr val="CEE6F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82" name="Google Shape;182;g3a819a1e23a_7_29"/>
          <p:cNvSpPr txBox="1"/>
          <p:nvPr/>
        </p:nvSpPr>
        <p:spPr>
          <a:xfrm>
            <a:off x="7970843" y="4390688"/>
            <a:ext cx="596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$850k</a:t>
            </a:r>
            <a:r>
              <a:rPr b="1" lang="en-US" sz="36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ARS/módulo/mes</a:t>
            </a:r>
            <a:endParaRPr sz="1800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cxnSp>
        <p:nvCxnSpPr>
          <p:cNvPr id="183" name="Google Shape;183;g3a819a1e23a_7_29"/>
          <p:cNvCxnSpPr/>
          <p:nvPr/>
        </p:nvCxnSpPr>
        <p:spPr>
          <a:xfrm>
            <a:off x="906450" y="4347125"/>
            <a:ext cx="5772600" cy="0"/>
          </a:xfrm>
          <a:prstGeom prst="straightConnector1">
            <a:avLst/>
          </a:prstGeom>
          <a:noFill/>
          <a:ln cap="flat" cmpd="sng" w="9525">
            <a:solidFill>
              <a:srgbClr val="00C5B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g3a819a1e23a_7_29"/>
          <p:cNvCxnSpPr/>
          <p:nvPr/>
        </p:nvCxnSpPr>
        <p:spPr>
          <a:xfrm>
            <a:off x="7933050" y="4347125"/>
            <a:ext cx="5772600" cy="0"/>
          </a:xfrm>
          <a:prstGeom prst="straightConnector1">
            <a:avLst/>
          </a:prstGeom>
          <a:noFill/>
          <a:ln cap="flat" cmpd="sng" w="9525">
            <a:solidFill>
              <a:srgbClr val="00324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5" name="Google Shape;185;g3a819a1e23a_7_29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000" y="5581325"/>
            <a:ext cx="252076" cy="2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a819a1e23a_7_29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000" y="6008275"/>
            <a:ext cx="252076" cy="2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a819a1e23a_7_29" title="comprob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000" y="6435225"/>
            <a:ext cx="252076" cy="2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a819a1e23a_7_29" title="comproba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850" y="5616050"/>
            <a:ext cx="252076" cy="2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a819a1e23a_7_29" title="comproba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850" y="6043000"/>
            <a:ext cx="252076" cy="25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a819a1e23a_7_29" title="comprobad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0850" y="6469950"/>
            <a:ext cx="252076" cy="25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6216491" y="337780"/>
            <a:ext cx="7683900" cy="13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Estrategia de Marketing y Ventas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216500" y="2259200"/>
            <a:ext cx="81012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00"/>
              <a:buFont typeface="Instrument Sans Medium"/>
              <a:buNone/>
            </a:pPr>
            <a:r>
              <a:rPr i="0" lang="en-US" sz="200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Enfoque B2B, generación de autoridad y penetración modular.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descr="preencoded.png" id="199" name="Google Shape;1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6491" y="3132415"/>
            <a:ext cx="1042988" cy="153566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7468073" y="3569625"/>
            <a:ext cx="58320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i="0" lang="en-US" sz="32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Caso de Éxito Cero</a:t>
            </a:r>
            <a:endParaRPr i="0" sz="32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6491" y="4668083"/>
            <a:ext cx="1042988" cy="153566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7468073" y="5181500"/>
            <a:ext cx="57606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i="0" lang="en-US" sz="32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Penetración Modular</a:t>
            </a:r>
            <a:endParaRPr i="0" sz="32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descr="preencoded.png" id="203" name="Google Shape;20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6491" y="6203752"/>
            <a:ext cx="1042988" cy="153566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7468075" y="6793351"/>
            <a:ext cx="64323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i="0" lang="en-US" sz="32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Conversión a </a:t>
            </a:r>
            <a:r>
              <a:rPr b="1" i="1"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Platform</a:t>
            </a:r>
            <a:endParaRPr i="1" sz="32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2779000" y="7634725"/>
            <a:ext cx="1942200" cy="59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8d873cfdc_0_25"/>
          <p:cNvSpPr/>
          <p:nvPr/>
        </p:nvSpPr>
        <p:spPr>
          <a:xfrm>
            <a:off x="12779000" y="7634725"/>
            <a:ext cx="1942200" cy="59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8d873cfdc_0_25"/>
          <p:cNvSpPr/>
          <p:nvPr/>
        </p:nvSpPr>
        <p:spPr>
          <a:xfrm>
            <a:off x="809750" y="493075"/>
            <a:ext cx="63393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 SemiBold"/>
              <a:buNone/>
            </a:pPr>
            <a:r>
              <a:rPr b="1" lang="en-US" sz="37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Clientes </a:t>
            </a:r>
            <a:r>
              <a:rPr b="1" i="1" lang="en-US" sz="37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EduFlow Platform</a:t>
            </a:r>
            <a:r>
              <a:rPr b="1" i="1" lang="en-US" sz="16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®</a:t>
            </a:r>
            <a:endParaRPr i="1" sz="16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t/>
            </a:r>
            <a:endParaRPr b="1" sz="405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213" name="Google Shape;213;g3a8d873cfdc_0_25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787" y="1289304"/>
            <a:ext cx="6339225" cy="6937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a8d873cfdc_0_25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787" y="1291700"/>
            <a:ext cx="6339225" cy="694029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a8d873cfdc_0_25"/>
          <p:cNvSpPr/>
          <p:nvPr/>
        </p:nvSpPr>
        <p:spPr>
          <a:xfrm>
            <a:off x="7286750" y="493075"/>
            <a:ext cx="63393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 SemiBold"/>
              <a:buNone/>
            </a:pPr>
            <a:r>
              <a:rPr b="1" lang="en-US" sz="3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Clientes </a:t>
            </a:r>
            <a:r>
              <a:rPr b="1" i="1" lang="en-US" sz="37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EduFlow Services</a:t>
            </a:r>
            <a:r>
              <a:rPr b="1" i="1" lang="en-US" sz="16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®</a:t>
            </a:r>
            <a:endParaRPr i="1" sz="16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t/>
            </a:r>
            <a:endParaRPr b="1" sz="405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819a1e23a_7_74"/>
          <p:cNvSpPr/>
          <p:nvPr/>
        </p:nvSpPr>
        <p:spPr>
          <a:xfrm>
            <a:off x="489000" y="420050"/>
            <a:ext cx="1304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Tracción y Validación de Mercado</a:t>
            </a:r>
            <a:endParaRPr i="0" sz="44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22" name="Google Shape;222;g3a819a1e23a_7_74"/>
          <p:cNvSpPr/>
          <p:nvPr/>
        </p:nvSpPr>
        <p:spPr>
          <a:xfrm>
            <a:off x="488990" y="122376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2000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Validamos la necesidad de actores clave del sector educativo</a:t>
            </a:r>
            <a:endParaRPr i="0" sz="20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23" name="Google Shape;223;g3a819a1e23a_7_74"/>
          <p:cNvSpPr/>
          <p:nvPr/>
        </p:nvSpPr>
        <p:spPr>
          <a:xfrm>
            <a:off x="210700" y="2238325"/>
            <a:ext cx="6764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lang="en-US" sz="26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Investigación de Mercado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grpSp>
        <p:nvGrpSpPr>
          <p:cNvPr id="224" name="Google Shape;224;g3a819a1e23a_7_74"/>
          <p:cNvGrpSpPr/>
          <p:nvPr/>
        </p:nvGrpSpPr>
        <p:grpSpPr>
          <a:xfrm>
            <a:off x="619157" y="3138964"/>
            <a:ext cx="1951660" cy="1951674"/>
            <a:chOff x="147179" y="3103891"/>
            <a:chExt cx="1000800" cy="1000807"/>
          </a:xfrm>
        </p:grpSpPr>
        <p:sp>
          <p:nvSpPr>
            <p:cNvPr id="225" name="Google Shape;225;g3a819a1e23a_7_74"/>
            <p:cNvSpPr/>
            <p:nvPr/>
          </p:nvSpPr>
          <p:spPr>
            <a:xfrm>
              <a:off x="147179" y="3103898"/>
              <a:ext cx="1000800" cy="1000800"/>
            </a:xfrm>
            <a:prstGeom prst="ellipse">
              <a:avLst/>
            </a:prstGeom>
            <a:solidFill>
              <a:srgbClr val="FF5656"/>
            </a:solidFill>
            <a:ln>
              <a:noFill/>
            </a:ln>
          </p:spPr>
          <p:txBody>
            <a:bodyPr anchorCtr="0" anchor="ctr" bIns="100825" lIns="100825" spcFirstLastPara="1" rIns="100825" wrap="square" tIns="10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3"/>
            </a:p>
          </p:txBody>
        </p:sp>
        <p:sp>
          <p:nvSpPr>
            <p:cNvPr id="226" name="Google Shape;226;g3a819a1e23a_7_74"/>
            <p:cNvSpPr/>
            <p:nvPr/>
          </p:nvSpPr>
          <p:spPr>
            <a:xfrm>
              <a:off x="147179" y="3103891"/>
              <a:ext cx="1000800" cy="1000800"/>
            </a:xfrm>
            <a:prstGeom prst="pie">
              <a:avLst>
                <a:gd fmla="val 20450491" name="adj1"/>
                <a:gd fmla="val 16200000" name="adj2"/>
              </a:avLst>
            </a:prstGeom>
            <a:solidFill>
              <a:srgbClr val="00827C"/>
            </a:solidFill>
            <a:ln>
              <a:noFill/>
            </a:ln>
          </p:spPr>
          <p:txBody>
            <a:bodyPr anchorCtr="0" anchor="ctr" bIns="100825" lIns="100825" spcFirstLastPara="1" rIns="100825" wrap="square" tIns="100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43"/>
            </a:p>
          </p:txBody>
        </p:sp>
      </p:grpSp>
      <p:sp>
        <p:nvSpPr>
          <p:cNvPr id="227" name="Google Shape;227;g3a819a1e23a_7_74"/>
          <p:cNvSpPr txBox="1"/>
          <p:nvPr/>
        </p:nvSpPr>
        <p:spPr>
          <a:xfrm>
            <a:off x="2861850" y="2860675"/>
            <a:ext cx="419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80% </a:t>
            </a:r>
            <a:r>
              <a:rPr lang="en-US" sz="22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de directores </a:t>
            </a:r>
            <a:r>
              <a:rPr lang="en-US" sz="22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confirma dolores en procesos manuales.</a:t>
            </a:r>
            <a:endParaRPr sz="22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28" name="Google Shape;228;g3a819a1e23a_7_74"/>
          <p:cNvSpPr txBox="1"/>
          <p:nvPr/>
        </p:nvSpPr>
        <p:spPr>
          <a:xfrm>
            <a:off x="2861775" y="4506325"/>
            <a:ext cx="419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40</a:t>
            </a:r>
            <a:r>
              <a:rPr b="1"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~60 horas/mes</a:t>
            </a:r>
            <a:br>
              <a:rPr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lang="en-US" sz="2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invertidas en admisiones.</a:t>
            </a:r>
            <a:endParaRPr sz="2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29" name="Google Shape;229;g3a819a1e23a_7_74"/>
          <p:cNvSpPr/>
          <p:nvPr/>
        </p:nvSpPr>
        <p:spPr>
          <a:xfrm>
            <a:off x="445125" y="5883275"/>
            <a:ext cx="13751700" cy="15699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El problema está validado.</a:t>
            </a:r>
            <a:endParaRPr sz="3200">
              <a:solidFill>
                <a:schemeClr val="lt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Los colegios están listos para digitalizar.</a:t>
            </a:r>
            <a:endParaRPr sz="3200">
              <a:solidFill>
                <a:schemeClr val="lt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30" name="Google Shape;230;g3a819a1e23a_7_74"/>
          <p:cNvSpPr/>
          <p:nvPr/>
        </p:nvSpPr>
        <p:spPr>
          <a:xfrm>
            <a:off x="11979300" y="7740300"/>
            <a:ext cx="2651100" cy="4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1" name="Google Shape;231;g3a819a1e23a_7_74"/>
          <p:cNvSpPr/>
          <p:nvPr/>
        </p:nvSpPr>
        <p:spPr>
          <a:xfrm>
            <a:off x="7432725" y="2238325"/>
            <a:ext cx="6764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lang="en-US" sz="26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Red de Contratos Estratégica</a:t>
            </a:r>
            <a:endParaRPr i="0" sz="26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32" name="Google Shape;232;g3a819a1e23a_7_74"/>
          <p:cNvSpPr txBox="1"/>
          <p:nvPr/>
        </p:nvSpPr>
        <p:spPr>
          <a:xfrm>
            <a:off x="8042325" y="2784475"/>
            <a:ext cx="59466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827C"/>
              </a:buClr>
              <a:buSzPts val="2000"/>
              <a:buFont typeface="Merriweather Sans"/>
              <a:buChar char="●"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Acceso a </a:t>
            </a: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Red </a:t>
            </a: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Itinere</a:t>
            </a: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827C"/>
              </a:buClr>
              <a:buSzPts val="2000"/>
              <a:buFont typeface="Merriweather Sans"/>
              <a:buChar char="●"/>
            </a:pP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 colegios </a:t>
            </a:r>
            <a:r>
              <a:rPr b="1" i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target</a:t>
            </a: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identificados para piloto.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827C"/>
              </a:buClr>
              <a:buSzPts val="2000"/>
              <a:buFont typeface="Merriweather Sans"/>
              <a:buChar char="●"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Contacto directo con administradores de </a:t>
            </a:r>
            <a:r>
              <a:rPr b="1"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7 instituciones</a:t>
            </a: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233" name="Google Shape;233;g3a819a1e23a_7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8810" y="4555375"/>
            <a:ext cx="2635140" cy="8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819a1e23a_3_73"/>
          <p:cNvSpPr/>
          <p:nvPr/>
        </p:nvSpPr>
        <p:spPr>
          <a:xfrm>
            <a:off x="11979300" y="7740300"/>
            <a:ext cx="2651100" cy="4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40" name="Google Shape;240;g3a819a1e23a_3_73"/>
          <p:cNvGrpSpPr/>
          <p:nvPr/>
        </p:nvGrpSpPr>
        <p:grpSpPr>
          <a:xfrm>
            <a:off x="472990" y="1440301"/>
            <a:ext cx="5603956" cy="6789309"/>
            <a:chOff x="811527" y="0"/>
            <a:chExt cx="5688718" cy="6857888"/>
          </a:xfrm>
        </p:grpSpPr>
        <p:grpSp>
          <p:nvGrpSpPr>
            <p:cNvPr id="241" name="Google Shape;241;g3a819a1e23a_3_73"/>
            <p:cNvGrpSpPr/>
            <p:nvPr/>
          </p:nvGrpSpPr>
          <p:grpSpPr>
            <a:xfrm>
              <a:off x="1174537" y="0"/>
              <a:ext cx="4910792" cy="6857888"/>
              <a:chOff x="3957125" y="0"/>
              <a:chExt cx="3683186" cy="5143544"/>
            </a:xfrm>
          </p:grpSpPr>
          <p:sp>
            <p:nvSpPr>
              <p:cNvPr id="242" name="Google Shape;242;g3a819a1e23a_3_73"/>
              <p:cNvSpPr/>
              <p:nvPr/>
            </p:nvSpPr>
            <p:spPr>
              <a:xfrm>
                <a:off x="3957125" y="0"/>
                <a:ext cx="3683186" cy="5143544"/>
              </a:xfrm>
              <a:custGeom>
                <a:rect b="b" l="l" r="r" t="t"/>
                <a:pathLst>
                  <a:path extrusionOk="0" h="160485" w="114920">
                    <a:moveTo>
                      <a:pt x="0" y="0"/>
                    </a:moveTo>
                    <a:lnTo>
                      <a:pt x="0" y="15562"/>
                    </a:lnTo>
                    <a:cubicBezTo>
                      <a:pt x="0" y="24575"/>
                      <a:pt x="7346" y="31897"/>
                      <a:pt x="16359" y="31897"/>
                    </a:cubicBezTo>
                    <a:lnTo>
                      <a:pt x="94857" y="31897"/>
                    </a:lnTo>
                    <a:cubicBezTo>
                      <a:pt x="102739" y="31897"/>
                      <a:pt x="109133" y="38315"/>
                      <a:pt x="109133" y="46196"/>
                    </a:cubicBezTo>
                    <a:cubicBezTo>
                      <a:pt x="109133" y="54055"/>
                      <a:pt x="102739" y="60472"/>
                      <a:pt x="94857" y="60472"/>
                    </a:cubicBezTo>
                    <a:lnTo>
                      <a:pt x="20062" y="60472"/>
                    </a:lnTo>
                    <a:cubicBezTo>
                      <a:pt x="9025" y="60472"/>
                      <a:pt x="12" y="69461"/>
                      <a:pt x="12" y="80534"/>
                    </a:cubicBezTo>
                    <a:cubicBezTo>
                      <a:pt x="12" y="87106"/>
                      <a:pt x="3191" y="92952"/>
                      <a:pt x="8073" y="96607"/>
                    </a:cubicBezTo>
                    <a:cubicBezTo>
                      <a:pt x="8835" y="97167"/>
                      <a:pt x="9632" y="97679"/>
                      <a:pt x="10454" y="98143"/>
                    </a:cubicBezTo>
                    <a:cubicBezTo>
                      <a:pt x="10633" y="98250"/>
                      <a:pt x="10811" y="98322"/>
                      <a:pt x="11002" y="98429"/>
                    </a:cubicBezTo>
                    <a:cubicBezTo>
                      <a:pt x="13716" y="99810"/>
                      <a:pt x="16800" y="100584"/>
                      <a:pt x="20062" y="100584"/>
                    </a:cubicBezTo>
                    <a:lnTo>
                      <a:pt x="94857" y="100584"/>
                    </a:lnTo>
                    <a:cubicBezTo>
                      <a:pt x="102739" y="100584"/>
                      <a:pt x="109133" y="107002"/>
                      <a:pt x="109133" y="114883"/>
                    </a:cubicBezTo>
                    <a:cubicBezTo>
                      <a:pt x="109133" y="122742"/>
                      <a:pt x="102739" y="129159"/>
                      <a:pt x="94857" y="129159"/>
                    </a:cubicBezTo>
                    <a:lnTo>
                      <a:pt x="54876" y="129159"/>
                    </a:lnTo>
                    <a:cubicBezTo>
                      <a:pt x="54233" y="129159"/>
                      <a:pt x="53590" y="129183"/>
                      <a:pt x="52983" y="129266"/>
                    </a:cubicBezTo>
                    <a:cubicBezTo>
                      <a:pt x="51876" y="129397"/>
                      <a:pt x="50828" y="129623"/>
                      <a:pt x="49792" y="129957"/>
                    </a:cubicBezTo>
                    <a:cubicBezTo>
                      <a:pt x="49387" y="130088"/>
                      <a:pt x="48994" y="130243"/>
                      <a:pt x="48613" y="130397"/>
                    </a:cubicBezTo>
                    <a:cubicBezTo>
                      <a:pt x="48054" y="130624"/>
                      <a:pt x="47506" y="130909"/>
                      <a:pt x="46970" y="131195"/>
                    </a:cubicBezTo>
                    <a:cubicBezTo>
                      <a:pt x="46637" y="131374"/>
                      <a:pt x="46304" y="131576"/>
                      <a:pt x="45994" y="131778"/>
                    </a:cubicBezTo>
                    <a:cubicBezTo>
                      <a:pt x="45280" y="132243"/>
                      <a:pt x="44613" y="132755"/>
                      <a:pt x="43994" y="133326"/>
                    </a:cubicBezTo>
                    <a:cubicBezTo>
                      <a:pt x="43732" y="133552"/>
                      <a:pt x="43482" y="133791"/>
                      <a:pt x="43244" y="134041"/>
                    </a:cubicBezTo>
                    <a:cubicBezTo>
                      <a:pt x="42017" y="135279"/>
                      <a:pt x="41017" y="136684"/>
                      <a:pt x="40220" y="138255"/>
                    </a:cubicBezTo>
                    <a:cubicBezTo>
                      <a:pt x="40089" y="138541"/>
                      <a:pt x="39958" y="138815"/>
                      <a:pt x="39827" y="139101"/>
                    </a:cubicBezTo>
                    <a:cubicBezTo>
                      <a:pt x="39529" y="139791"/>
                      <a:pt x="39267" y="140541"/>
                      <a:pt x="39088" y="141303"/>
                    </a:cubicBezTo>
                    <a:cubicBezTo>
                      <a:pt x="38731" y="142649"/>
                      <a:pt x="38517" y="144054"/>
                      <a:pt x="38517" y="145494"/>
                    </a:cubicBezTo>
                    <a:lnTo>
                      <a:pt x="38517" y="160484"/>
                    </a:lnTo>
                    <a:lnTo>
                      <a:pt x="44303" y="160484"/>
                    </a:lnTo>
                    <a:lnTo>
                      <a:pt x="44303" y="145494"/>
                    </a:lnTo>
                    <a:cubicBezTo>
                      <a:pt x="44303" y="145078"/>
                      <a:pt x="44327" y="144697"/>
                      <a:pt x="44375" y="144292"/>
                    </a:cubicBezTo>
                    <a:cubicBezTo>
                      <a:pt x="44434" y="143720"/>
                      <a:pt x="44553" y="143185"/>
                      <a:pt x="44708" y="142649"/>
                    </a:cubicBezTo>
                    <a:cubicBezTo>
                      <a:pt x="44792" y="142315"/>
                      <a:pt x="44887" y="142006"/>
                      <a:pt x="45018" y="141672"/>
                    </a:cubicBezTo>
                    <a:cubicBezTo>
                      <a:pt x="45351" y="140815"/>
                      <a:pt x="45792" y="140029"/>
                      <a:pt x="46327" y="139303"/>
                    </a:cubicBezTo>
                    <a:cubicBezTo>
                      <a:pt x="46411" y="139208"/>
                      <a:pt x="46482" y="139077"/>
                      <a:pt x="46566" y="138970"/>
                    </a:cubicBezTo>
                    <a:cubicBezTo>
                      <a:pt x="46589" y="138946"/>
                      <a:pt x="46613" y="138898"/>
                      <a:pt x="46661" y="138875"/>
                    </a:cubicBezTo>
                    <a:cubicBezTo>
                      <a:pt x="46744" y="138767"/>
                      <a:pt x="46839" y="138660"/>
                      <a:pt x="46923" y="138541"/>
                    </a:cubicBezTo>
                    <a:cubicBezTo>
                      <a:pt x="48280" y="136993"/>
                      <a:pt x="50078" y="135862"/>
                      <a:pt x="52102" y="135303"/>
                    </a:cubicBezTo>
                    <a:cubicBezTo>
                      <a:pt x="52233" y="135279"/>
                      <a:pt x="52364" y="135243"/>
                      <a:pt x="52495" y="135196"/>
                    </a:cubicBezTo>
                    <a:cubicBezTo>
                      <a:pt x="53257" y="135041"/>
                      <a:pt x="54055" y="134945"/>
                      <a:pt x="54876" y="134945"/>
                    </a:cubicBezTo>
                    <a:lnTo>
                      <a:pt x="94857" y="134945"/>
                    </a:lnTo>
                    <a:cubicBezTo>
                      <a:pt x="105930" y="134945"/>
                      <a:pt x="114919" y="125932"/>
                      <a:pt x="114919" y="114883"/>
                    </a:cubicBezTo>
                    <a:cubicBezTo>
                      <a:pt x="114919" y="103823"/>
                      <a:pt x="105930" y="94810"/>
                      <a:pt x="94857" y="94810"/>
                    </a:cubicBezTo>
                    <a:lnTo>
                      <a:pt x="20062" y="94810"/>
                    </a:lnTo>
                    <a:cubicBezTo>
                      <a:pt x="19217" y="94810"/>
                      <a:pt x="18395" y="94750"/>
                      <a:pt x="17598" y="94595"/>
                    </a:cubicBezTo>
                    <a:cubicBezTo>
                      <a:pt x="17491" y="94571"/>
                      <a:pt x="17383" y="94571"/>
                      <a:pt x="17288" y="94548"/>
                    </a:cubicBezTo>
                    <a:cubicBezTo>
                      <a:pt x="15645" y="94214"/>
                      <a:pt x="14097" y="93595"/>
                      <a:pt x="12692" y="92774"/>
                    </a:cubicBezTo>
                    <a:cubicBezTo>
                      <a:pt x="12561" y="92678"/>
                      <a:pt x="12430" y="92595"/>
                      <a:pt x="12299" y="92524"/>
                    </a:cubicBezTo>
                    <a:cubicBezTo>
                      <a:pt x="11561" y="92035"/>
                      <a:pt x="10847" y="91464"/>
                      <a:pt x="10204" y="90857"/>
                    </a:cubicBezTo>
                    <a:cubicBezTo>
                      <a:pt x="7477" y="88261"/>
                      <a:pt x="5787" y="84582"/>
                      <a:pt x="5787" y="80534"/>
                    </a:cubicBezTo>
                    <a:cubicBezTo>
                      <a:pt x="5787" y="72640"/>
                      <a:pt x="12204" y="66247"/>
                      <a:pt x="20062" y="66247"/>
                    </a:cubicBezTo>
                    <a:lnTo>
                      <a:pt x="94857" y="66247"/>
                    </a:lnTo>
                    <a:cubicBezTo>
                      <a:pt x="105930" y="66247"/>
                      <a:pt x="114919" y="57234"/>
                      <a:pt x="114919" y="46196"/>
                    </a:cubicBezTo>
                    <a:cubicBezTo>
                      <a:pt x="114919" y="35136"/>
                      <a:pt x="105930" y="26123"/>
                      <a:pt x="94857" y="26123"/>
                    </a:cubicBezTo>
                    <a:lnTo>
                      <a:pt x="16359" y="26123"/>
                    </a:lnTo>
                    <a:cubicBezTo>
                      <a:pt x="10537" y="26123"/>
                      <a:pt x="5787" y="21396"/>
                      <a:pt x="5787" y="15562"/>
                    </a:cubicBezTo>
                    <a:lnTo>
                      <a:pt x="5787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g3a819a1e23a_3_73"/>
              <p:cNvSpPr/>
              <p:nvPr/>
            </p:nvSpPr>
            <p:spPr>
              <a:xfrm>
                <a:off x="4034589" y="0"/>
                <a:ext cx="3528256" cy="5087072"/>
              </a:xfrm>
              <a:custGeom>
                <a:rect b="b" l="l" r="r" t="t"/>
                <a:pathLst>
                  <a:path extrusionOk="0" h="158723" w="110086">
                    <a:moveTo>
                      <a:pt x="0" y="0"/>
                    </a:moveTo>
                    <a:lnTo>
                      <a:pt x="0" y="2263"/>
                    </a:lnTo>
                    <a:lnTo>
                      <a:pt x="953" y="2263"/>
                    </a:lnTo>
                    <a:lnTo>
                      <a:pt x="953" y="0"/>
                    </a:lnTo>
                    <a:close/>
                    <a:moveTo>
                      <a:pt x="0" y="4501"/>
                    </a:moveTo>
                    <a:lnTo>
                      <a:pt x="0" y="6763"/>
                    </a:lnTo>
                    <a:lnTo>
                      <a:pt x="953" y="6763"/>
                    </a:lnTo>
                    <a:lnTo>
                      <a:pt x="953" y="4501"/>
                    </a:lnTo>
                    <a:close/>
                    <a:moveTo>
                      <a:pt x="0" y="8990"/>
                    </a:moveTo>
                    <a:lnTo>
                      <a:pt x="0" y="11252"/>
                    </a:lnTo>
                    <a:lnTo>
                      <a:pt x="953" y="11252"/>
                    </a:lnTo>
                    <a:lnTo>
                      <a:pt x="953" y="8990"/>
                    </a:lnTo>
                    <a:close/>
                    <a:moveTo>
                      <a:pt x="0" y="13490"/>
                    </a:moveTo>
                    <a:lnTo>
                      <a:pt x="0" y="15740"/>
                    </a:lnTo>
                    <a:lnTo>
                      <a:pt x="953" y="15717"/>
                    </a:lnTo>
                    <a:lnTo>
                      <a:pt x="953" y="13490"/>
                    </a:lnTo>
                    <a:close/>
                    <a:moveTo>
                      <a:pt x="1155" y="17872"/>
                    </a:moveTo>
                    <a:lnTo>
                      <a:pt x="238" y="18050"/>
                    </a:lnTo>
                    <a:cubicBezTo>
                      <a:pt x="357" y="18824"/>
                      <a:pt x="572" y="19574"/>
                      <a:pt x="822" y="20289"/>
                    </a:cubicBezTo>
                    <a:lnTo>
                      <a:pt x="1727" y="19979"/>
                    </a:lnTo>
                    <a:cubicBezTo>
                      <a:pt x="1488" y="19288"/>
                      <a:pt x="1286" y="18598"/>
                      <a:pt x="1155" y="17872"/>
                    </a:cubicBezTo>
                    <a:close/>
                    <a:moveTo>
                      <a:pt x="2620" y="21932"/>
                    </a:moveTo>
                    <a:lnTo>
                      <a:pt x="1798" y="22420"/>
                    </a:lnTo>
                    <a:cubicBezTo>
                      <a:pt x="2191" y="23086"/>
                      <a:pt x="2620" y="23729"/>
                      <a:pt x="3108" y="24325"/>
                    </a:cubicBezTo>
                    <a:lnTo>
                      <a:pt x="3858" y="23729"/>
                    </a:lnTo>
                    <a:cubicBezTo>
                      <a:pt x="3393" y="23170"/>
                      <a:pt x="2977" y="22575"/>
                      <a:pt x="2620" y="21932"/>
                    </a:cubicBezTo>
                    <a:close/>
                    <a:moveTo>
                      <a:pt x="5346" y="25301"/>
                    </a:moveTo>
                    <a:lnTo>
                      <a:pt x="4703" y="26015"/>
                    </a:lnTo>
                    <a:cubicBezTo>
                      <a:pt x="5287" y="26527"/>
                      <a:pt x="5906" y="26992"/>
                      <a:pt x="6572" y="27397"/>
                    </a:cubicBezTo>
                    <a:lnTo>
                      <a:pt x="7084" y="26575"/>
                    </a:lnTo>
                    <a:cubicBezTo>
                      <a:pt x="6477" y="26194"/>
                      <a:pt x="5882" y="25753"/>
                      <a:pt x="5346" y="25301"/>
                    </a:cubicBezTo>
                    <a:close/>
                    <a:moveTo>
                      <a:pt x="9013" y="27551"/>
                    </a:moveTo>
                    <a:lnTo>
                      <a:pt x="8632" y="28456"/>
                    </a:lnTo>
                    <a:cubicBezTo>
                      <a:pt x="9347" y="28766"/>
                      <a:pt x="10097" y="28992"/>
                      <a:pt x="10859" y="29147"/>
                    </a:cubicBezTo>
                    <a:lnTo>
                      <a:pt x="11073" y="28218"/>
                    </a:lnTo>
                    <a:cubicBezTo>
                      <a:pt x="10371" y="28075"/>
                      <a:pt x="9680" y="27837"/>
                      <a:pt x="9013" y="27551"/>
                    </a:cubicBezTo>
                    <a:close/>
                    <a:moveTo>
                      <a:pt x="13204" y="28504"/>
                    </a:moveTo>
                    <a:lnTo>
                      <a:pt x="13145" y="29480"/>
                    </a:lnTo>
                    <a:cubicBezTo>
                      <a:pt x="13407" y="29480"/>
                      <a:pt x="13669" y="29504"/>
                      <a:pt x="13942" y="29504"/>
                    </a:cubicBezTo>
                    <a:lnTo>
                      <a:pt x="15431" y="29504"/>
                    </a:lnTo>
                    <a:lnTo>
                      <a:pt x="15431" y="28528"/>
                    </a:lnTo>
                    <a:lnTo>
                      <a:pt x="13942" y="28528"/>
                    </a:lnTo>
                    <a:cubicBezTo>
                      <a:pt x="13692" y="28528"/>
                      <a:pt x="13454" y="28528"/>
                      <a:pt x="13204" y="28504"/>
                    </a:cubicBezTo>
                    <a:close/>
                    <a:moveTo>
                      <a:pt x="17669" y="28528"/>
                    </a:moveTo>
                    <a:lnTo>
                      <a:pt x="17669" y="29504"/>
                    </a:lnTo>
                    <a:lnTo>
                      <a:pt x="19931" y="29504"/>
                    </a:lnTo>
                    <a:lnTo>
                      <a:pt x="19931" y="28528"/>
                    </a:lnTo>
                    <a:close/>
                    <a:moveTo>
                      <a:pt x="22158" y="28528"/>
                    </a:moveTo>
                    <a:lnTo>
                      <a:pt x="22158" y="29504"/>
                    </a:lnTo>
                    <a:lnTo>
                      <a:pt x="24420" y="29504"/>
                    </a:lnTo>
                    <a:lnTo>
                      <a:pt x="24420" y="28528"/>
                    </a:lnTo>
                    <a:close/>
                    <a:moveTo>
                      <a:pt x="26658" y="28528"/>
                    </a:moveTo>
                    <a:lnTo>
                      <a:pt x="26658" y="29504"/>
                    </a:lnTo>
                    <a:lnTo>
                      <a:pt x="28920" y="29504"/>
                    </a:lnTo>
                    <a:lnTo>
                      <a:pt x="28920" y="28528"/>
                    </a:lnTo>
                    <a:close/>
                    <a:moveTo>
                      <a:pt x="31147" y="28528"/>
                    </a:moveTo>
                    <a:lnTo>
                      <a:pt x="31147" y="29504"/>
                    </a:lnTo>
                    <a:lnTo>
                      <a:pt x="33409" y="29504"/>
                    </a:lnTo>
                    <a:lnTo>
                      <a:pt x="33409" y="28528"/>
                    </a:lnTo>
                    <a:close/>
                    <a:moveTo>
                      <a:pt x="35648" y="28528"/>
                    </a:moveTo>
                    <a:lnTo>
                      <a:pt x="35648" y="29504"/>
                    </a:lnTo>
                    <a:lnTo>
                      <a:pt x="37898" y="29504"/>
                    </a:lnTo>
                    <a:lnTo>
                      <a:pt x="37898" y="28528"/>
                    </a:lnTo>
                    <a:close/>
                    <a:moveTo>
                      <a:pt x="40136" y="28528"/>
                    </a:moveTo>
                    <a:lnTo>
                      <a:pt x="40136" y="29504"/>
                    </a:lnTo>
                    <a:lnTo>
                      <a:pt x="42398" y="29504"/>
                    </a:lnTo>
                    <a:lnTo>
                      <a:pt x="42398" y="28528"/>
                    </a:lnTo>
                    <a:close/>
                    <a:moveTo>
                      <a:pt x="44625" y="28528"/>
                    </a:moveTo>
                    <a:lnTo>
                      <a:pt x="44625" y="29504"/>
                    </a:lnTo>
                    <a:lnTo>
                      <a:pt x="46887" y="29504"/>
                    </a:lnTo>
                    <a:lnTo>
                      <a:pt x="46887" y="28528"/>
                    </a:lnTo>
                    <a:close/>
                    <a:moveTo>
                      <a:pt x="49125" y="28528"/>
                    </a:moveTo>
                    <a:lnTo>
                      <a:pt x="49125" y="29504"/>
                    </a:lnTo>
                    <a:lnTo>
                      <a:pt x="51388" y="29504"/>
                    </a:lnTo>
                    <a:lnTo>
                      <a:pt x="51388" y="28528"/>
                    </a:lnTo>
                    <a:close/>
                    <a:moveTo>
                      <a:pt x="53614" y="28528"/>
                    </a:moveTo>
                    <a:lnTo>
                      <a:pt x="53614" y="29504"/>
                    </a:lnTo>
                    <a:lnTo>
                      <a:pt x="55876" y="29504"/>
                    </a:lnTo>
                    <a:lnTo>
                      <a:pt x="55876" y="28528"/>
                    </a:lnTo>
                    <a:close/>
                    <a:moveTo>
                      <a:pt x="58115" y="28528"/>
                    </a:moveTo>
                    <a:lnTo>
                      <a:pt x="58115" y="29504"/>
                    </a:lnTo>
                    <a:lnTo>
                      <a:pt x="60377" y="29504"/>
                    </a:lnTo>
                    <a:lnTo>
                      <a:pt x="60377" y="28528"/>
                    </a:lnTo>
                    <a:close/>
                    <a:moveTo>
                      <a:pt x="62603" y="28528"/>
                    </a:moveTo>
                    <a:lnTo>
                      <a:pt x="62603" y="29504"/>
                    </a:lnTo>
                    <a:lnTo>
                      <a:pt x="64865" y="29504"/>
                    </a:lnTo>
                    <a:lnTo>
                      <a:pt x="64865" y="28528"/>
                    </a:lnTo>
                    <a:close/>
                    <a:moveTo>
                      <a:pt x="67104" y="28528"/>
                    </a:moveTo>
                    <a:lnTo>
                      <a:pt x="67104" y="29504"/>
                    </a:lnTo>
                    <a:lnTo>
                      <a:pt x="69354" y="29504"/>
                    </a:lnTo>
                    <a:lnTo>
                      <a:pt x="69354" y="28528"/>
                    </a:lnTo>
                    <a:close/>
                    <a:moveTo>
                      <a:pt x="71592" y="28528"/>
                    </a:moveTo>
                    <a:lnTo>
                      <a:pt x="71592" y="29504"/>
                    </a:lnTo>
                    <a:lnTo>
                      <a:pt x="73855" y="29504"/>
                    </a:lnTo>
                    <a:lnTo>
                      <a:pt x="73855" y="28528"/>
                    </a:lnTo>
                    <a:close/>
                    <a:moveTo>
                      <a:pt x="76081" y="28528"/>
                    </a:moveTo>
                    <a:lnTo>
                      <a:pt x="76081" y="29504"/>
                    </a:lnTo>
                    <a:lnTo>
                      <a:pt x="78343" y="29504"/>
                    </a:lnTo>
                    <a:lnTo>
                      <a:pt x="78343" y="28528"/>
                    </a:lnTo>
                    <a:close/>
                    <a:moveTo>
                      <a:pt x="80582" y="28528"/>
                    </a:moveTo>
                    <a:lnTo>
                      <a:pt x="80582" y="29504"/>
                    </a:lnTo>
                    <a:lnTo>
                      <a:pt x="82844" y="29504"/>
                    </a:lnTo>
                    <a:lnTo>
                      <a:pt x="82844" y="28528"/>
                    </a:lnTo>
                    <a:close/>
                    <a:moveTo>
                      <a:pt x="85070" y="28528"/>
                    </a:moveTo>
                    <a:lnTo>
                      <a:pt x="85070" y="29504"/>
                    </a:lnTo>
                    <a:lnTo>
                      <a:pt x="87333" y="29504"/>
                    </a:lnTo>
                    <a:lnTo>
                      <a:pt x="87333" y="28528"/>
                    </a:lnTo>
                    <a:close/>
                    <a:moveTo>
                      <a:pt x="89571" y="28528"/>
                    </a:moveTo>
                    <a:lnTo>
                      <a:pt x="89571" y="29504"/>
                    </a:lnTo>
                    <a:lnTo>
                      <a:pt x="91821" y="29504"/>
                    </a:lnTo>
                    <a:lnTo>
                      <a:pt x="91821" y="28528"/>
                    </a:lnTo>
                    <a:close/>
                    <a:moveTo>
                      <a:pt x="94107" y="28611"/>
                    </a:moveTo>
                    <a:lnTo>
                      <a:pt x="94012" y="29587"/>
                    </a:lnTo>
                    <a:cubicBezTo>
                      <a:pt x="94750" y="29635"/>
                      <a:pt x="95476" y="29766"/>
                      <a:pt x="96167" y="29921"/>
                    </a:cubicBezTo>
                    <a:lnTo>
                      <a:pt x="96393" y="28968"/>
                    </a:lnTo>
                    <a:cubicBezTo>
                      <a:pt x="95655" y="28813"/>
                      <a:pt x="94881" y="28682"/>
                      <a:pt x="94107" y="28611"/>
                    </a:cubicBezTo>
                    <a:close/>
                    <a:moveTo>
                      <a:pt x="98608" y="29635"/>
                    </a:moveTo>
                    <a:lnTo>
                      <a:pt x="98274" y="30540"/>
                    </a:lnTo>
                    <a:cubicBezTo>
                      <a:pt x="98941" y="30790"/>
                      <a:pt x="99608" y="31099"/>
                      <a:pt x="100251" y="31433"/>
                    </a:cubicBezTo>
                    <a:lnTo>
                      <a:pt x="100715" y="30587"/>
                    </a:lnTo>
                    <a:cubicBezTo>
                      <a:pt x="100013" y="30230"/>
                      <a:pt x="99322" y="29921"/>
                      <a:pt x="98608" y="29635"/>
                    </a:cubicBezTo>
                    <a:close/>
                    <a:moveTo>
                      <a:pt x="102668" y="31790"/>
                    </a:moveTo>
                    <a:lnTo>
                      <a:pt x="102120" y="32588"/>
                    </a:lnTo>
                    <a:cubicBezTo>
                      <a:pt x="102715" y="33004"/>
                      <a:pt x="103275" y="33457"/>
                      <a:pt x="103787" y="33981"/>
                    </a:cubicBezTo>
                    <a:lnTo>
                      <a:pt x="104454" y="33254"/>
                    </a:lnTo>
                    <a:cubicBezTo>
                      <a:pt x="103894" y="32742"/>
                      <a:pt x="103299" y="32254"/>
                      <a:pt x="102668" y="31790"/>
                    </a:cubicBezTo>
                    <a:close/>
                    <a:moveTo>
                      <a:pt x="106049" y="34921"/>
                    </a:moveTo>
                    <a:lnTo>
                      <a:pt x="105311" y="35540"/>
                    </a:lnTo>
                    <a:cubicBezTo>
                      <a:pt x="105763" y="36112"/>
                      <a:pt x="106204" y="36695"/>
                      <a:pt x="106597" y="37314"/>
                    </a:cubicBezTo>
                    <a:lnTo>
                      <a:pt x="107383" y="36802"/>
                    </a:lnTo>
                    <a:cubicBezTo>
                      <a:pt x="106978" y="36160"/>
                      <a:pt x="106537" y="35517"/>
                      <a:pt x="106049" y="34921"/>
                    </a:cubicBezTo>
                    <a:close/>
                    <a:moveTo>
                      <a:pt x="108490" y="38827"/>
                    </a:moveTo>
                    <a:lnTo>
                      <a:pt x="107621" y="39243"/>
                    </a:lnTo>
                    <a:cubicBezTo>
                      <a:pt x="107930" y="39886"/>
                      <a:pt x="108180" y="40577"/>
                      <a:pt x="108383" y="41267"/>
                    </a:cubicBezTo>
                    <a:lnTo>
                      <a:pt x="109311" y="40982"/>
                    </a:lnTo>
                    <a:cubicBezTo>
                      <a:pt x="109085" y="40267"/>
                      <a:pt x="108823" y="39517"/>
                      <a:pt x="108490" y="38827"/>
                    </a:cubicBezTo>
                    <a:close/>
                    <a:moveTo>
                      <a:pt x="109847" y="43244"/>
                    </a:moveTo>
                    <a:lnTo>
                      <a:pt x="108907" y="43399"/>
                    </a:lnTo>
                    <a:cubicBezTo>
                      <a:pt x="109026" y="44113"/>
                      <a:pt x="109085" y="44839"/>
                      <a:pt x="109109" y="45554"/>
                    </a:cubicBezTo>
                    <a:lnTo>
                      <a:pt x="110085" y="45530"/>
                    </a:lnTo>
                    <a:cubicBezTo>
                      <a:pt x="110062" y="44756"/>
                      <a:pt x="109978" y="43994"/>
                      <a:pt x="109847" y="43244"/>
                    </a:cubicBezTo>
                    <a:close/>
                    <a:moveTo>
                      <a:pt x="109061" y="47744"/>
                    </a:moveTo>
                    <a:cubicBezTo>
                      <a:pt x="108978" y="48482"/>
                      <a:pt x="108871" y="49197"/>
                      <a:pt x="108728" y="49899"/>
                    </a:cubicBezTo>
                    <a:lnTo>
                      <a:pt x="109645" y="50126"/>
                    </a:lnTo>
                    <a:cubicBezTo>
                      <a:pt x="109823" y="49387"/>
                      <a:pt x="109954" y="48613"/>
                      <a:pt x="110002" y="47840"/>
                    </a:cubicBezTo>
                    <a:lnTo>
                      <a:pt x="109061" y="47744"/>
                    </a:lnTo>
                    <a:close/>
                    <a:moveTo>
                      <a:pt x="108109" y="52007"/>
                    </a:moveTo>
                    <a:cubicBezTo>
                      <a:pt x="107847" y="52673"/>
                      <a:pt x="107537" y="53340"/>
                      <a:pt x="107204" y="53983"/>
                    </a:cubicBezTo>
                    <a:lnTo>
                      <a:pt x="108049" y="54436"/>
                    </a:lnTo>
                    <a:cubicBezTo>
                      <a:pt x="108419" y="53745"/>
                      <a:pt x="108728" y="53054"/>
                      <a:pt x="109002" y="52340"/>
                    </a:cubicBezTo>
                    <a:lnTo>
                      <a:pt x="108109" y="52007"/>
                    </a:lnTo>
                    <a:close/>
                    <a:moveTo>
                      <a:pt x="106049" y="55852"/>
                    </a:moveTo>
                    <a:cubicBezTo>
                      <a:pt x="105644" y="56448"/>
                      <a:pt x="105180" y="57007"/>
                      <a:pt x="104692" y="57543"/>
                    </a:cubicBezTo>
                    <a:lnTo>
                      <a:pt x="105382" y="58186"/>
                    </a:lnTo>
                    <a:cubicBezTo>
                      <a:pt x="105894" y="57626"/>
                      <a:pt x="106383" y="57031"/>
                      <a:pt x="106847" y="56388"/>
                    </a:cubicBezTo>
                    <a:lnTo>
                      <a:pt x="106049" y="55852"/>
                    </a:lnTo>
                    <a:close/>
                    <a:moveTo>
                      <a:pt x="103096" y="59031"/>
                    </a:moveTo>
                    <a:cubicBezTo>
                      <a:pt x="102537" y="59496"/>
                      <a:pt x="101942" y="59936"/>
                      <a:pt x="101322" y="60317"/>
                    </a:cubicBezTo>
                    <a:lnTo>
                      <a:pt x="101846" y="61139"/>
                    </a:lnTo>
                    <a:cubicBezTo>
                      <a:pt x="102477" y="60734"/>
                      <a:pt x="103120" y="60270"/>
                      <a:pt x="103716" y="59781"/>
                    </a:cubicBezTo>
                    <a:lnTo>
                      <a:pt x="103096" y="59031"/>
                    </a:lnTo>
                    <a:close/>
                    <a:moveTo>
                      <a:pt x="99405" y="61353"/>
                    </a:moveTo>
                    <a:cubicBezTo>
                      <a:pt x="98763" y="61651"/>
                      <a:pt x="98060" y="61913"/>
                      <a:pt x="97370" y="62139"/>
                    </a:cubicBezTo>
                    <a:lnTo>
                      <a:pt x="97655" y="63068"/>
                    </a:lnTo>
                    <a:cubicBezTo>
                      <a:pt x="98405" y="62841"/>
                      <a:pt x="99120" y="62556"/>
                      <a:pt x="99810" y="62222"/>
                    </a:cubicBezTo>
                    <a:lnTo>
                      <a:pt x="99405" y="61353"/>
                    </a:lnTo>
                    <a:close/>
                    <a:moveTo>
                      <a:pt x="21217" y="62889"/>
                    </a:moveTo>
                    <a:lnTo>
                      <a:pt x="21217" y="63842"/>
                    </a:lnTo>
                    <a:lnTo>
                      <a:pt x="23444" y="63842"/>
                    </a:lnTo>
                    <a:lnTo>
                      <a:pt x="23444" y="62889"/>
                    </a:lnTo>
                    <a:close/>
                    <a:moveTo>
                      <a:pt x="25706" y="62889"/>
                    </a:moveTo>
                    <a:lnTo>
                      <a:pt x="25706" y="63842"/>
                    </a:lnTo>
                    <a:lnTo>
                      <a:pt x="27944" y="63842"/>
                    </a:lnTo>
                    <a:lnTo>
                      <a:pt x="27944" y="62889"/>
                    </a:lnTo>
                    <a:close/>
                    <a:moveTo>
                      <a:pt x="30194" y="62889"/>
                    </a:moveTo>
                    <a:lnTo>
                      <a:pt x="30194" y="63842"/>
                    </a:lnTo>
                    <a:lnTo>
                      <a:pt x="32433" y="63842"/>
                    </a:lnTo>
                    <a:lnTo>
                      <a:pt x="32433" y="62889"/>
                    </a:lnTo>
                    <a:close/>
                    <a:moveTo>
                      <a:pt x="34695" y="62889"/>
                    </a:moveTo>
                    <a:lnTo>
                      <a:pt x="34695" y="63842"/>
                    </a:lnTo>
                    <a:lnTo>
                      <a:pt x="36921" y="63842"/>
                    </a:lnTo>
                    <a:lnTo>
                      <a:pt x="36921" y="62889"/>
                    </a:lnTo>
                    <a:close/>
                    <a:moveTo>
                      <a:pt x="39184" y="62889"/>
                    </a:moveTo>
                    <a:lnTo>
                      <a:pt x="39184" y="63842"/>
                    </a:lnTo>
                    <a:lnTo>
                      <a:pt x="41422" y="63842"/>
                    </a:lnTo>
                    <a:lnTo>
                      <a:pt x="41422" y="62889"/>
                    </a:lnTo>
                    <a:close/>
                    <a:moveTo>
                      <a:pt x="43684" y="62889"/>
                    </a:moveTo>
                    <a:lnTo>
                      <a:pt x="43684" y="63842"/>
                    </a:lnTo>
                    <a:lnTo>
                      <a:pt x="45911" y="63842"/>
                    </a:lnTo>
                    <a:lnTo>
                      <a:pt x="45911" y="62889"/>
                    </a:lnTo>
                    <a:close/>
                    <a:moveTo>
                      <a:pt x="48173" y="62889"/>
                    </a:moveTo>
                    <a:lnTo>
                      <a:pt x="48173" y="63842"/>
                    </a:lnTo>
                    <a:lnTo>
                      <a:pt x="50411" y="63842"/>
                    </a:lnTo>
                    <a:lnTo>
                      <a:pt x="50411" y="62889"/>
                    </a:lnTo>
                    <a:close/>
                    <a:moveTo>
                      <a:pt x="52673" y="62889"/>
                    </a:moveTo>
                    <a:lnTo>
                      <a:pt x="52673" y="63842"/>
                    </a:lnTo>
                    <a:lnTo>
                      <a:pt x="54900" y="63842"/>
                    </a:lnTo>
                    <a:lnTo>
                      <a:pt x="54900" y="62889"/>
                    </a:lnTo>
                    <a:close/>
                    <a:moveTo>
                      <a:pt x="57162" y="62889"/>
                    </a:moveTo>
                    <a:lnTo>
                      <a:pt x="57162" y="63842"/>
                    </a:lnTo>
                    <a:lnTo>
                      <a:pt x="59400" y="63842"/>
                    </a:lnTo>
                    <a:lnTo>
                      <a:pt x="59400" y="62889"/>
                    </a:lnTo>
                    <a:close/>
                    <a:moveTo>
                      <a:pt x="61651" y="62889"/>
                    </a:moveTo>
                    <a:lnTo>
                      <a:pt x="61651" y="63842"/>
                    </a:lnTo>
                    <a:lnTo>
                      <a:pt x="63889" y="63842"/>
                    </a:lnTo>
                    <a:lnTo>
                      <a:pt x="63889" y="62889"/>
                    </a:lnTo>
                    <a:close/>
                    <a:moveTo>
                      <a:pt x="66151" y="62889"/>
                    </a:moveTo>
                    <a:lnTo>
                      <a:pt x="66151" y="63842"/>
                    </a:lnTo>
                    <a:lnTo>
                      <a:pt x="68378" y="63842"/>
                    </a:lnTo>
                    <a:lnTo>
                      <a:pt x="68378" y="62889"/>
                    </a:lnTo>
                    <a:close/>
                    <a:moveTo>
                      <a:pt x="70640" y="62889"/>
                    </a:moveTo>
                    <a:lnTo>
                      <a:pt x="70640" y="63842"/>
                    </a:lnTo>
                    <a:lnTo>
                      <a:pt x="72878" y="63842"/>
                    </a:lnTo>
                    <a:lnTo>
                      <a:pt x="72878" y="62889"/>
                    </a:lnTo>
                    <a:close/>
                    <a:moveTo>
                      <a:pt x="75141" y="62889"/>
                    </a:moveTo>
                    <a:lnTo>
                      <a:pt x="75141" y="63842"/>
                    </a:lnTo>
                    <a:lnTo>
                      <a:pt x="77367" y="63842"/>
                    </a:lnTo>
                    <a:lnTo>
                      <a:pt x="77367" y="62889"/>
                    </a:lnTo>
                    <a:close/>
                    <a:moveTo>
                      <a:pt x="79629" y="62889"/>
                    </a:moveTo>
                    <a:lnTo>
                      <a:pt x="79629" y="63842"/>
                    </a:lnTo>
                    <a:lnTo>
                      <a:pt x="81868" y="63842"/>
                    </a:lnTo>
                    <a:lnTo>
                      <a:pt x="81868" y="62889"/>
                    </a:lnTo>
                    <a:close/>
                    <a:moveTo>
                      <a:pt x="84118" y="62889"/>
                    </a:moveTo>
                    <a:lnTo>
                      <a:pt x="84118" y="63842"/>
                    </a:lnTo>
                    <a:lnTo>
                      <a:pt x="86356" y="63842"/>
                    </a:lnTo>
                    <a:lnTo>
                      <a:pt x="86356" y="62889"/>
                    </a:lnTo>
                    <a:close/>
                    <a:moveTo>
                      <a:pt x="88618" y="62889"/>
                    </a:moveTo>
                    <a:lnTo>
                      <a:pt x="88618" y="63842"/>
                    </a:lnTo>
                    <a:lnTo>
                      <a:pt x="90845" y="63842"/>
                    </a:lnTo>
                    <a:lnTo>
                      <a:pt x="90845" y="62889"/>
                    </a:lnTo>
                    <a:close/>
                    <a:moveTo>
                      <a:pt x="95238" y="62627"/>
                    </a:moveTo>
                    <a:cubicBezTo>
                      <a:pt x="94548" y="62758"/>
                      <a:pt x="93798" y="62841"/>
                      <a:pt x="93083" y="62865"/>
                    </a:cubicBezTo>
                    <a:lnTo>
                      <a:pt x="93107" y="63842"/>
                    </a:lnTo>
                    <a:cubicBezTo>
                      <a:pt x="93881" y="63818"/>
                      <a:pt x="94655" y="63711"/>
                      <a:pt x="95417" y="63580"/>
                    </a:cubicBezTo>
                    <a:lnTo>
                      <a:pt x="95238" y="62627"/>
                    </a:lnTo>
                    <a:close/>
                    <a:moveTo>
                      <a:pt x="17645" y="62889"/>
                    </a:moveTo>
                    <a:cubicBezTo>
                      <a:pt x="17336" y="62889"/>
                      <a:pt x="17002" y="62889"/>
                      <a:pt x="16693" y="62913"/>
                    </a:cubicBezTo>
                    <a:lnTo>
                      <a:pt x="16740" y="63865"/>
                    </a:lnTo>
                    <a:cubicBezTo>
                      <a:pt x="17026" y="63865"/>
                      <a:pt x="17336" y="63842"/>
                      <a:pt x="17645" y="63842"/>
                    </a:cubicBezTo>
                    <a:lnTo>
                      <a:pt x="18955" y="63842"/>
                    </a:lnTo>
                    <a:lnTo>
                      <a:pt x="18955" y="62889"/>
                    </a:lnTo>
                    <a:close/>
                    <a:moveTo>
                      <a:pt x="14383" y="63175"/>
                    </a:moveTo>
                    <a:cubicBezTo>
                      <a:pt x="13633" y="63330"/>
                      <a:pt x="12895" y="63508"/>
                      <a:pt x="12145" y="63758"/>
                    </a:cubicBezTo>
                    <a:lnTo>
                      <a:pt x="12454" y="64663"/>
                    </a:lnTo>
                    <a:cubicBezTo>
                      <a:pt x="13145" y="64425"/>
                      <a:pt x="13871" y="64246"/>
                      <a:pt x="14562" y="64127"/>
                    </a:cubicBezTo>
                    <a:lnTo>
                      <a:pt x="14383" y="63175"/>
                    </a:lnTo>
                    <a:close/>
                    <a:moveTo>
                      <a:pt x="10013" y="64603"/>
                    </a:moveTo>
                    <a:cubicBezTo>
                      <a:pt x="9323" y="64949"/>
                      <a:pt x="8656" y="65330"/>
                      <a:pt x="8013" y="65735"/>
                    </a:cubicBezTo>
                    <a:lnTo>
                      <a:pt x="8525" y="66556"/>
                    </a:lnTo>
                    <a:cubicBezTo>
                      <a:pt x="9144" y="66151"/>
                      <a:pt x="9787" y="65794"/>
                      <a:pt x="10430" y="65485"/>
                    </a:cubicBezTo>
                    <a:lnTo>
                      <a:pt x="10013" y="64603"/>
                    </a:lnTo>
                    <a:close/>
                    <a:moveTo>
                      <a:pt x="6168" y="67128"/>
                    </a:moveTo>
                    <a:cubicBezTo>
                      <a:pt x="5572" y="67640"/>
                      <a:pt x="5037" y="68175"/>
                      <a:pt x="4525" y="68747"/>
                    </a:cubicBezTo>
                    <a:lnTo>
                      <a:pt x="5215" y="69390"/>
                    </a:lnTo>
                    <a:cubicBezTo>
                      <a:pt x="5703" y="68842"/>
                      <a:pt x="6239" y="68330"/>
                      <a:pt x="6787" y="67866"/>
                    </a:cubicBezTo>
                    <a:lnTo>
                      <a:pt x="6168" y="67128"/>
                    </a:lnTo>
                    <a:close/>
                    <a:moveTo>
                      <a:pt x="3084" y="70569"/>
                    </a:moveTo>
                    <a:cubicBezTo>
                      <a:pt x="2643" y="71188"/>
                      <a:pt x="2262" y="71854"/>
                      <a:pt x="1905" y="72545"/>
                    </a:cubicBezTo>
                    <a:lnTo>
                      <a:pt x="2774" y="72985"/>
                    </a:lnTo>
                    <a:cubicBezTo>
                      <a:pt x="3084" y="72343"/>
                      <a:pt x="3465" y="71700"/>
                      <a:pt x="3882" y="71104"/>
                    </a:cubicBezTo>
                    <a:lnTo>
                      <a:pt x="3084" y="70569"/>
                    </a:lnTo>
                    <a:close/>
                    <a:moveTo>
                      <a:pt x="1000" y="74676"/>
                    </a:moveTo>
                    <a:cubicBezTo>
                      <a:pt x="750" y="75391"/>
                      <a:pt x="536" y="76141"/>
                      <a:pt x="393" y="76879"/>
                    </a:cubicBezTo>
                    <a:lnTo>
                      <a:pt x="1310" y="77093"/>
                    </a:lnTo>
                    <a:cubicBezTo>
                      <a:pt x="1465" y="76367"/>
                      <a:pt x="1667" y="75676"/>
                      <a:pt x="1905" y="74986"/>
                    </a:cubicBezTo>
                    <a:lnTo>
                      <a:pt x="1000" y="74676"/>
                    </a:lnTo>
                    <a:close/>
                    <a:moveTo>
                      <a:pt x="60" y="79165"/>
                    </a:moveTo>
                    <a:cubicBezTo>
                      <a:pt x="24" y="79629"/>
                      <a:pt x="0" y="80070"/>
                      <a:pt x="0" y="80534"/>
                    </a:cubicBezTo>
                    <a:cubicBezTo>
                      <a:pt x="0" y="80832"/>
                      <a:pt x="0" y="81177"/>
                      <a:pt x="24" y="81475"/>
                    </a:cubicBezTo>
                    <a:lnTo>
                      <a:pt x="977" y="81427"/>
                    </a:lnTo>
                    <a:cubicBezTo>
                      <a:pt x="977" y="81117"/>
                      <a:pt x="953" y="80832"/>
                      <a:pt x="953" y="80534"/>
                    </a:cubicBezTo>
                    <a:cubicBezTo>
                      <a:pt x="953" y="80093"/>
                      <a:pt x="977" y="79677"/>
                      <a:pt x="1000" y="79248"/>
                    </a:cubicBezTo>
                    <a:lnTo>
                      <a:pt x="60" y="79165"/>
                    </a:lnTo>
                    <a:close/>
                    <a:moveTo>
                      <a:pt x="1238" y="83582"/>
                    </a:moveTo>
                    <a:lnTo>
                      <a:pt x="286" y="83761"/>
                    </a:lnTo>
                    <a:cubicBezTo>
                      <a:pt x="441" y="84535"/>
                      <a:pt x="619" y="85285"/>
                      <a:pt x="881" y="85999"/>
                    </a:cubicBezTo>
                    <a:lnTo>
                      <a:pt x="1774" y="85713"/>
                    </a:lnTo>
                    <a:cubicBezTo>
                      <a:pt x="1548" y="85023"/>
                      <a:pt x="1358" y="84308"/>
                      <a:pt x="1238" y="83582"/>
                    </a:cubicBezTo>
                    <a:close/>
                    <a:moveTo>
                      <a:pt x="2596" y="87749"/>
                    </a:moveTo>
                    <a:lnTo>
                      <a:pt x="1727" y="88154"/>
                    </a:lnTo>
                    <a:cubicBezTo>
                      <a:pt x="2060" y="88845"/>
                      <a:pt x="2441" y="89511"/>
                      <a:pt x="2858" y="90154"/>
                    </a:cubicBezTo>
                    <a:lnTo>
                      <a:pt x="3644" y="89642"/>
                    </a:lnTo>
                    <a:cubicBezTo>
                      <a:pt x="3263" y="89023"/>
                      <a:pt x="2905" y="88392"/>
                      <a:pt x="2596" y="87749"/>
                    </a:cubicBezTo>
                    <a:close/>
                    <a:moveTo>
                      <a:pt x="4953" y="91393"/>
                    </a:moveTo>
                    <a:lnTo>
                      <a:pt x="4239" y="92012"/>
                    </a:lnTo>
                    <a:cubicBezTo>
                      <a:pt x="4727" y="92595"/>
                      <a:pt x="5263" y="93143"/>
                      <a:pt x="5858" y="93655"/>
                    </a:cubicBezTo>
                    <a:lnTo>
                      <a:pt x="6453" y="93012"/>
                    </a:lnTo>
                    <a:lnTo>
                      <a:pt x="6501" y="92952"/>
                    </a:lnTo>
                    <a:cubicBezTo>
                      <a:pt x="6501" y="92928"/>
                      <a:pt x="6477" y="92928"/>
                      <a:pt x="6477" y="92928"/>
                    </a:cubicBezTo>
                    <a:cubicBezTo>
                      <a:pt x="5930" y="92440"/>
                      <a:pt x="5441" y="91928"/>
                      <a:pt x="4953" y="91393"/>
                    </a:cubicBezTo>
                    <a:close/>
                    <a:moveTo>
                      <a:pt x="8216" y="94298"/>
                    </a:moveTo>
                    <a:lnTo>
                      <a:pt x="7656" y="95083"/>
                    </a:lnTo>
                    <a:cubicBezTo>
                      <a:pt x="7906" y="95238"/>
                      <a:pt x="8144" y="95417"/>
                      <a:pt x="8394" y="95548"/>
                    </a:cubicBezTo>
                    <a:cubicBezTo>
                      <a:pt x="8394" y="95572"/>
                      <a:pt x="8430" y="95572"/>
                      <a:pt x="8454" y="95607"/>
                    </a:cubicBezTo>
                    <a:cubicBezTo>
                      <a:pt x="8835" y="95834"/>
                      <a:pt x="9251" y="96060"/>
                      <a:pt x="9632" y="96274"/>
                    </a:cubicBezTo>
                    <a:lnTo>
                      <a:pt x="10073" y="95417"/>
                    </a:lnTo>
                    <a:cubicBezTo>
                      <a:pt x="9632" y="95191"/>
                      <a:pt x="9192" y="94941"/>
                      <a:pt x="8787" y="94679"/>
                    </a:cubicBezTo>
                    <a:cubicBezTo>
                      <a:pt x="8763" y="94655"/>
                      <a:pt x="8727" y="94631"/>
                      <a:pt x="8704" y="94631"/>
                    </a:cubicBezTo>
                    <a:cubicBezTo>
                      <a:pt x="8525" y="94524"/>
                      <a:pt x="8370" y="94393"/>
                      <a:pt x="8216" y="94298"/>
                    </a:cubicBezTo>
                    <a:close/>
                    <a:moveTo>
                      <a:pt x="12097" y="96274"/>
                    </a:moveTo>
                    <a:lnTo>
                      <a:pt x="11764" y="97167"/>
                    </a:lnTo>
                    <a:cubicBezTo>
                      <a:pt x="11918" y="97215"/>
                      <a:pt x="12049" y="97274"/>
                      <a:pt x="12204" y="97322"/>
                    </a:cubicBezTo>
                    <a:cubicBezTo>
                      <a:pt x="12252" y="97346"/>
                      <a:pt x="12299" y="97369"/>
                      <a:pt x="12383" y="97369"/>
                    </a:cubicBezTo>
                    <a:cubicBezTo>
                      <a:pt x="12716" y="97500"/>
                      <a:pt x="13073" y="97584"/>
                      <a:pt x="13407" y="97679"/>
                    </a:cubicBezTo>
                    <a:cubicBezTo>
                      <a:pt x="13478" y="97679"/>
                      <a:pt x="13561" y="97703"/>
                      <a:pt x="13633" y="97739"/>
                    </a:cubicBezTo>
                    <a:cubicBezTo>
                      <a:pt x="13740" y="97762"/>
                      <a:pt x="13871" y="97786"/>
                      <a:pt x="14002" y="97810"/>
                    </a:cubicBezTo>
                    <a:lnTo>
                      <a:pt x="14181" y="96857"/>
                    </a:lnTo>
                    <a:cubicBezTo>
                      <a:pt x="13871" y="96810"/>
                      <a:pt x="13561" y="96726"/>
                      <a:pt x="13252" y="96631"/>
                    </a:cubicBezTo>
                    <a:cubicBezTo>
                      <a:pt x="13180" y="96607"/>
                      <a:pt x="13097" y="96607"/>
                      <a:pt x="13026" y="96584"/>
                    </a:cubicBezTo>
                    <a:cubicBezTo>
                      <a:pt x="12918" y="96548"/>
                      <a:pt x="12788" y="96500"/>
                      <a:pt x="12692" y="96476"/>
                    </a:cubicBezTo>
                    <a:cubicBezTo>
                      <a:pt x="12633" y="96453"/>
                      <a:pt x="12561" y="96453"/>
                      <a:pt x="12502" y="96429"/>
                    </a:cubicBezTo>
                    <a:cubicBezTo>
                      <a:pt x="12383" y="96369"/>
                      <a:pt x="12228" y="96322"/>
                      <a:pt x="12097" y="96274"/>
                    </a:cubicBezTo>
                    <a:close/>
                    <a:moveTo>
                      <a:pt x="16336" y="97167"/>
                    </a:moveTo>
                    <a:lnTo>
                      <a:pt x="16288" y="98036"/>
                    </a:lnTo>
                    <a:lnTo>
                      <a:pt x="16252" y="98143"/>
                    </a:lnTo>
                    <a:lnTo>
                      <a:pt x="16431" y="98143"/>
                    </a:lnTo>
                    <a:cubicBezTo>
                      <a:pt x="16848" y="98167"/>
                      <a:pt x="17252" y="98191"/>
                      <a:pt x="17645" y="98191"/>
                    </a:cubicBezTo>
                    <a:lnTo>
                      <a:pt x="18538" y="98191"/>
                    </a:lnTo>
                    <a:lnTo>
                      <a:pt x="18538" y="97215"/>
                    </a:lnTo>
                    <a:lnTo>
                      <a:pt x="17598" y="97215"/>
                    </a:lnTo>
                    <a:cubicBezTo>
                      <a:pt x="17312" y="97215"/>
                      <a:pt x="17050" y="97215"/>
                      <a:pt x="16764" y="97191"/>
                    </a:cubicBezTo>
                    <a:lnTo>
                      <a:pt x="16562" y="97191"/>
                    </a:lnTo>
                    <a:cubicBezTo>
                      <a:pt x="16490" y="97191"/>
                      <a:pt x="16407" y="97167"/>
                      <a:pt x="16336" y="97167"/>
                    </a:cubicBezTo>
                    <a:close/>
                    <a:moveTo>
                      <a:pt x="20800" y="97215"/>
                    </a:moveTo>
                    <a:lnTo>
                      <a:pt x="20800" y="98191"/>
                    </a:lnTo>
                    <a:lnTo>
                      <a:pt x="23039" y="98191"/>
                    </a:lnTo>
                    <a:lnTo>
                      <a:pt x="23039" y="97215"/>
                    </a:lnTo>
                    <a:close/>
                    <a:moveTo>
                      <a:pt x="25301" y="97215"/>
                    </a:moveTo>
                    <a:lnTo>
                      <a:pt x="25301" y="98191"/>
                    </a:lnTo>
                    <a:lnTo>
                      <a:pt x="27527" y="98191"/>
                    </a:lnTo>
                    <a:lnTo>
                      <a:pt x="27527" y="97215"/>
                    </a:lnTo>
                    <a:close/>
                    <a:moveTo>
                      <a:pt x="29790" y="97215"/>
                    </a:moveTo>
                    <a:lnTo>
                      <a:pt x="29790" y="98191"/>
                    </a:lnTo>
                    <a:lnTo>
                      <a:pt x="32028" y="98191"/>
                    </a:lnTo>
                    <a:lnTo>
                      <a:pt x="32028" y="97215"/>
                    </a:lnTo>
                    <a:close/>
                    <a:moveTo>
                      <a:pt x="34278" y="97215"/>
                    </a:moveTo>
                    <a:lnTo>
                      <a:pt x="34278" y="98191"/>
                    </a:lnTo>
                    <a:lnTo>
                      <a:pt x="36517" y="98191"/>
                    </a:lnTo>
                    <a:lnTo>
                      <a:pt x="36517" y="97215"/>
                    </a:lnTo>
                    <a:close/>
                    <a:moveTo>
                      <a:pt x="38779" y="97215"/>
                    </a:moveTo>
                    <a:lnTo>
                      <a:pt x="38779" y="98191"/>
                    </a:lnTo>
                    <a:lnTo>
                      <a:pt x="41005" y="98191"/>
                    </a:lnTo>
                    <a:lnTo>
                      <a:pt x="41005" y="97215"/>
                    </a:lnTo>
                    <a:close/>
                    <a:moveTo>
                      <a:pt x="43268" y="97215"/>
                    </a:moveTo>
                    <a:lnTo>
                      <a:pt x="43268" y="98191"/>
                    </a:lnTo>
                    <a:lnTo>
                      <a:pt x="45506" y="98191"/>
                    </a:lnTo>
                    <a:lnTo>
                      <a:pt x="45506" y="97215"/>
                    </a:lnTo>
                    <a:close/>
                    <a:moveTo>
                      <a:pt x="47768" y="97215"/>
                    </a:moveTo>
                    <a:lnTo>
                      <a:pt x="47768" y="98191"/>
                    </a:lnTo>
                    <a:lnTo>
                      <a:pt x="49995" y="98191"/>
                    </a:lnTo>
                    <a:lnTo>
                      <a:pt x="49995" y="97215"/>
                    </a:lnTo>
                    <a:close/>
                    <a:moveTo>
                      <a:pt x="52257" y="97215"/>
                    </a:moveTo>
                    <a:lnTo>
                      <a:pt x="52257" y="98191"/>
                    </a:lnTo>
                    <a:lnTo>
                      <a:pt x="54495" y="98191"/>
                    </a:lnTo>
                    <a:lnTo>
                      <a:pt x="54495" y="97215"/>
                    </a:lnTo>
                    <a:close/>
                    <a:moveTo>
                      <a:pt x="56745" y="97215"/>
                    </a:moveTo>
                    <a:lnTo>
                      <a:pt x="56745" y="98191"/>
                    </a:lnTo>
                    <a:lnTo>
                      <a:pt x="58984" y="98191"/>
                    </a:lnTo>
                    <a:lnTo>
                      <a:pt x="58984" y="97215"/>
                    </a:lnTo>
                    <a:close/>
                    <a:moveTo>
                      <a:pt x="61246" y="97215"/>
                    </a:moveTo>
                    <a:lnTo>
                      <a:pt x="61246" y="98191"/>
                    </a:lnTo>
                    <a:lnTo>
                      <a:pt x="63472" y="98191"/>
                    </a:lnTo>
                    <a:lnTo>
                      <a:pt x="63472" y="97215"/>
                    </a:lnTo>
                    <a:close/>
                    <a:moveTo>
                      <a:pt x="65735" y="97215"/>
                    </a:moveTo>
                    <a:lnTo>
                      <a:pt x="65735" y="98191"/>
                    </a:lnTo>
                    <a:lnTo>
                      <a:pt x="67973" y="98191"/>
                    </a:lnTo>
                    <a:lnTo>
                      <a:pt x="67973" y="97215"/>
                    </a:lnTo>
                    <a:close/>
                    <a:moveTo>
                      <a:pt x="70235" y="97215"/>
                    </a:moveTo>
                    <a:lnTo>
                      <a:pt x="70235" y="98191"/>
                    </a:lnTo>
                    <a:lnTo>
                      <a:pt x="72462" y="98191"/>
                    </a:lnTo>
                    <a:lnTo>
                      <a:pt x="72462" y="97215"/>
                    </a:lnTo>
                    <a:close/>
                    <a:moveTo>
                      <a:pt x="74724" y="97215"/>
                    </a:moveTo>
                    <a:lnTo>
                      <a:pt x="74724" y="98191"/>
                    </a:lnTo>
                    <a:lnTo>
                      <a:pt x="76962" y="98191"/>
                    </a:lnTo>
                    <a:lnTo>
                      <a:pt x="76962" y="97215"/>
                    </a:lnTo>
                    <a:close/>
                    <a:moveTo>
                      <a:pt x="79212" y="97215"/>
                    </a:moveTo>
                    <a:lnTo>
                      <a:pt x="79212" y="98191"/>
                    </a:lnTo>
                    <a:lnTo>
                      <a:pt x="81451" y="98191"/>
                    </a:lnTo>
                    <a:lnTo>
                      <a:pt x="81451" y="97215"/>
                    </a:lnTo>
                    <a:close/>
                    <a:moveTo>
                      <a:pt x="83713" y="97215"/>
                    </a:moveTo>
                    <a:lnTo>
                      <a:pt x="83713" y="98191"/>
                    </a:lnTo>
                    <a:lnTo>
                      <a:pt x="85951" y="98191"/>
                    </a:lnTo>
                    <a:lnTo>
                      <a:pt x="85951" y="97215"/>
                    </a:lnTo>
                    <a:close/>
                    <a:moveTo>
                      <a:pt x="88202" y="97215"/>
                    </a:moveTo>
                    <a:lnTo>
                      <a:pt x="88202" y="98191"/>
                    </a:lnTo>
                    <a:lnTo>
                      <a:pt x="90440" y="98191"/>
                    </a:lnTo>
                    <a:lnTo>
                      <a:pt x="90440" y="97215"/>
                    </a:lnTo>
                    <a:close/>
                    <a:moveTo>
                      <a:pt x="92702" y="97215"/>
                    </a:moveTo>
                    <a:lnTo>
                      <a:pt x="92702" y="98191"/>
                    </a:lnTo>
                    <a:cubicBezTo>
                      <a:pt x="93417" y="98191"/>
                      <a:pt x="94143" y="98250"/>
                      <a:pt x="94857" y="98346"/>
                    </a:cubicBezTo>
                    <a:lnTo>
                      <a:pt x="95012" y="97405"/>
                    </a:lnTo>
                    <a:cubicBezTo>
                      <a:pt x="94238" y="97298"/>
                      <a:pt x="93464" y="97250"/>
                      <a:pt x="92702" y="97215"/>
                    </a:cubicBezTo>
                    <a:close/>
                    <a:moveTo>
                      <a:pt x="97274" y="97881"/>
                    </a:moveTo>
                    <a:lnTo>
                      <a:pt x="96989" y="98810"/>
                    </a:lnTo>
                    <a:cubicBezTo>
                      <a:pt x="97703" y="99012"/>
                      <a:pt x="98405" y="99251"/>
                      <a:pt x="99036" y="99560"/>
                    </a:cubicBezTo>
                    <a:lnTo>
                      <a:pt x="99429" y="98655"/>
                    </a:lnTo>
                    <a:cubicBezTo>
                      <a:pt x="98739" y="98346"/>
                      <a:pt x="97989" y="98096"/>
                      <a:pt x="97274" y="97881"/>
                    </a:cubicBezTo>
                    <a:close/>
                    <a:moveTo>
                      <a:pt x="101477" y="99715"/>
                    </a:moveTo>
                    <a:lnTo>
                      <a:pt x="100989" y="100536"/>
                    </a:lnTo>
                    <a:cubicBezTo>
                      <a:pt x="101608" y="100917"/>
                      <a:pt x="102227" y="101334"/>
                      <a:pt x="102787" y="101787"/>
                    </a:cubicBezTo>
                    <a:lnTo>
                      <a:pt x="103382" y="101025"/>
                    </a:lnTo>
                    <a:cubicBezTo>
                      <a:pt x="102787" y="100560"/>
                      <a:pt x="102144" y="100120"/>
                      <a:pt x="101477" y="99715"/>
                    </a:cubicBezTo>
                    <a:close/>
                    <a:moveTo>
                      <a:pt x="105097" y="102584"/>
                    </a:moveTo>
                    <a:lnTo>
                      <a:pt x="104406" y="103251"/>
                    </a:lnTo>
                    <a:cubicBezTo>
                      <a:pt x="104918" y="103763"/>
                      <a:pt x="105382" y="104335"/>
                      <a:pt x="105823" y="104894"/>
                    </a:cubicBezTo>
                    <a:lnTo>
                      <a:pt x="106585" y="104335"/>
                    </a:lnTo>
                    <a:cubicBezTo>
                      <a:pt x="106133" y="103715"/>
                      <a:pt x="105644" y="103120"/>
                      <a:pt x="105097" y="102584"/>
                    </a:cubicBezTo>
                    <a:close/>
                    <a:moveTo>
                      <a:pt x="107847" y="106263"/>
                    </a:moveTo>
                    <a:lnTo>
                      <a:pt x="107002" y="106752"/>
                    </a:lnTo>
                    <a:cubicBezTo>
                      <a:pt x="107359" y="107359"/>
                      <a:pt x="107692" y="108026"/>
                      <a:pt x="107954" y="108692"/>
                    </a:cubicBezTo>
                    <a:lnTo>
                      <a:pt x="108847" y="108335"/>
                    </a:lnTo>
                    <a:cubicBezTo>
                      <a:pt x="108573" y="107645"/>
                      <a:pt x="108240" y="106930"/>
                      <a:pt x="107847" y="106263"/>
                    </a:cubicBezTo>
                    <a:close/>
                    <a:moveTo>
                      <a:pt x="109573" y="110550"/>
                    </a:moveTo>
                    <a:lnTo>
                      <a:pt x="108621" y="110776"/>
                    </a:lnTo>
                    <a:cubicBezTo>
                      <a:pt x="108800" y="111466"/>
                      <a:pt x="108930" y="112193"/>
                      <a:pt x="109026" y="112931"/>
                    </a:cubicBezTo>
                    <a:lnTo>
                      <a:pt x="109978" y="112812"/>
                    </a:lnTo>
                    <a:cubicBezTo>
                      <a:pt x="109883" y="112038"/>
                      <a:pt x="109752" y="111288"/>
                      <a:pt x="109573" y="110550"/>
                    </a:cubicBezTo>
                    <a:close/>
                    <a:moveTo>
                      <a:pt x="109133" y="115086"/>
                    </a:moveTo>
                    <a:cubicBezTo>
                      <a:pt x="109109" y="115836"/>
                      <a:pt x="109061" y="116550"/>
                      <a:pt x="108954" y="117277"/>
                    </a:cubicBezTo>
                    <a:lnTo>
                      <a:pt x="109907" y="117431"/>
                    </a:lnTo>
                    <a:cubicBezTo>
                      <a:pt x="110026" y="116658"/>
                      <a:pt x="110085" y="115884"/>
                      <a:pt x="110085" y="115122"/>
                    </a:cubicBezTo>
                    <a:lnTo>
                      <a:pt x="109133" y="115086"/>
                    </a:lnTo>
                    <a:close/>
                    <a:moveTo>
                      <a:pt x="108514" y="119408"/>
                    </a:moveTo>
                    <a:cubicBezTo>
                      <a:pt x="108311" y="120122"/>
                      <a:pt x="108049" y="120789"/>
                      <a:pt x="107776" y="121456"/>
                    </a:cubicBezTo>
                    <a:lnTo>
                      <a:pt x="108669" y="121849"/>
                    </a:lnTo>
                    <a:cubicBezTo>
                      <a:pt x="108954" y="121146"/>
                      <a:pt x="109240" y="120408"/>
                      <a:pt x="109442" y="119658"/>
                    </a:cubicBezTo>
                    <a:lnTo>
                      <a:pt x="108514" y="119408"/>
                    </a:lnTo>
                    <a:close/>
                    <a:moveTo>
                      <a:pt x="106799" y="123408"/>
                    </a:moveTo>
                    <a:cubicBezTo>
                      <a:pt x="106406" y="124027"/>
                      <a:pt x="106002" y="124647"/>
                      <a:pt x="105537" y="125206"/>
                    </a:cubicBezTo>
                    <a:lnTo>
                      <a:pt x="106311" y="125801"/>
                    </a:lnTo>
                    <a:cubicBezTo>
                      <a:pt x="106775" y="125206"/>
                      <a:pt x="107204" y="124563"/>
                      <a:pt x="107621" y="123896"/>
                    </a:cubicBezTo>
                    <a:lnTo>
                      <a:pt x="106799" y="123408"/>
                    </a:lnTo>
                    <a:close/>
                    <a:moveTo>
                      <a:pt x="104073" y="126825"/>
                    </a:moveTo>
                    <a:cubicBezTo>
                      <a:pt x="103561" y="127337"/>
                      <a:pt x="103025" y="127826"/>
                      <a:pt x="102430" y="128242"/>
                    </a:cubicBezTo>
                    <a:lnTo>
                      <a:pt x="103001" y="129040"/>
                    </a:lnTo>
                    <a:cubicBezTo>
                      <a:pt x="103608" y="128576"/>
                      <a:pt x="104204" y="128064"/>
                      <a:pt x="104763" y="127516"/>
                    </a:cubicBezTo>
                    <a:lnTo>
                      <a:pt x="104073" y="126825"/>
                    </a:lnTo>
                    <a:close/>
                    <a:moveTo>
                      <a:pt x="100608" y="129445"/>
                    </a:moveTo>
                    <a:cubicBezTo>
                      <a:pt x="99965" y="129802"/>
                      <a:pt x="99298" y="130112"/>
                      <a:pt x="98632" y="130373"/>
                    </a:cubicBezTo>
                    <a:lnTo>
                      <a:pt x="98989" y="131266"/>
                    </a:lnTo>
                    <a:cubicBezTo>
                      <a:pt x="99715" y="130981"/>
                      <a:pt x="100406" y="130647"/>
                      <a:pt x="101072" y="130290"/>
                    </a:cubicBezTo>
                    <a:lnTo>
                      <a:pt x="100608" y="129445"/>
                    </a:lnTo>
                    <a:close/>
                    <a:moveTo>
                      <a:pt x="96548" y="131064"/>
                    </a:moveTo>
                    <a:cubicBezTo>
                      <a:pt x="95857" y="131243"/>
                      <a:pt x="95143" y="131374"/>
                      <a:pt x="94417" y="131445"/>
                    </a:cubicBezTo>
                    <a:lnTo>
                      <a:pt x="94524" y="132398"/>
                    </a:lnTo>
                    <a:cubicBezTo>
                      <a:pt x="95298" y="132326"/>
                      <a:pt x="96060" y="132171"/>
                      <a:pt x="96810" y="131993"/>
                    </a:cubicBezTo>
                    <a:lnTo>
                      <a:pt x="96548" y="131064"/>
                    </a:lnTo>
                    <a:close/>
                    <a:moveTo>
                      <a:pt x="54031" y="131576"/>
                    </a:moveTo>
                    <a:lnTo>
                      <a:pt x="54031" y="132529"/>
                    </a:lnTo>
                    <a:lnTo>
                      <a:pt x="56293" y="132529"/>
                    </a:lnTo>
                    <a:lnTo>
                      <a:pt x="56293" y="131576"/>
                    </a:lnTo>
                    <a:close/>
                    <a:moveTo>
                      <a:pt x="58519" y="131576"/>
                    </a:moveTo>
                    <a:lnTo>
                      <a:pt x="58519" y="132529"/>
                    </a:lnTo>
                    <a:lnTo>
                      <a:pt x="60782" y="132529"/>
                    </a:lnTo>
                    <a:lnTo>
                      <a:pt x="60782" y="131576"/>
                    </a:lnTo>
                    <a:close/>
                    <a:moveTo>
                      <a:pt x="63020" y="131576"/>
                    </a:moveTo>
                    <a:lnTo>
                      <a:pt x="63020" y="132529"/>
                    </a:lnTo>
                    <a:lnTo>
                      <a:pt x="65270" y="132529"/>
                    </a:lnTo>
                    <a:lnTo>
                      <a:pt x="65270" y="131576"/>
                    </a:lnTo>
                    <a:close/>
                    <a:moveTo>
                      <a:pt x="67509" y="131576"/>
                    </a:moveTo>
                    <a:lnTo>
                      <a:pt x="67509" y="132529"/>
                    </a:lnTo>
                    <a:lnTo>
                      <a:pt x="69771" y="132529"/>
                    </a:lnTo>
                    <a:lnTo>
                      <a:pt x="69771" y="131576"/>
                    </a:lnTo>
                    <a:close/>
                    <a:moveTo>
                      <a:pt x="71997" y="131576"/>
                    </a:moveTo>
                    <a:lnTo>
                      <a:pt x="71997" y="132529"/>
                    </a:lnTo>
                    <a:lnTo>
                      <a:pt x="74259" y="132529"/>
                    </a:lnTo>
                    <a:lnTo>
                      <a:pt x="74259" y="131576"/>
                    </a:lnTo>
                    <a:close/>
                    <a:moveTo>
                      <a:pt x="76498" y="131576"/>
                    </a:moveTo>
                    <a:lnTo>
                      <a:pt x="76498" y="132529"/>
                    </a:lnTo>
                    <a:lnTo>
                      <a:pt x="78760" y="132529"/>
                    </a:lnTo>
                    <a:lnTo>
                      <a:pt x="78760" y="131576"/>
                    </a:lnTo>
                    <a:close/>
                    <a:moveTo>
                      <a:pt x="80987" y="131576"/>
                    </a:moveTo>
                    <a:lnTo>
                      <a:pt x="80987" y="132529"/>
                    </a:lnTo>
                    <a:lnTo>
                      <a:pt x="83249" y="132529"/>
                    </a:lnTo>
                    <a:lnTo>
                      <a:pt x="83249" y="131576"/>
                    </a:lnTo>
                    <a:close/>
                    <a:moveTo>
                      <a:pt x="85487" y="131576"/>
                    </a:moveTo>
                    <a:lnTo>
                      <a:pt x="85487" y="132529"/>
                    </a:lnTo>
                    <a:lnTo>
                      <a:pt x="87737" y="132529"/>
                    </a:lnTo>
                    <a:lnTo>
                      <a:pt x="87737" y="131576"/>
                    </a:lnTo>
                    <a:close/>
                    <a:moveTo>
                      <a:pt x="89976" y="131576"/>
                    </a:moveTo>
                    <a:lnTo>
                      <a:pt x="89976" y="132529"/>
                    </a:lnTo>
                    <a:lnTo>
                      <a:pt x="92238" y="132529"/>
                    </a:lnTo>
                    <a:lnTo>
                      <a:pt x="92238" y="131576"/>
                    </a:lnTo>
                    <a:close/>
                    <a:moveTo>
                      <a:pt x="51769" y="131576"/>
                    </a:moveTo>
                    <a:cubicBezTo>
                      <a:pt x="50995" y="131624"/>
                      <a:pt x="50197" y="131731"/>
                      <a:pt x="49459" y="131886"/>
                    </a:cubicBezTo>
                    <a:lnTo>
                      <a:pt x="49661" y="132838"/>
                    </a:lnTo>
                    <a:cubicBezTo>
                      <a:pt x="50352" y="132683"/>
                      <a:pt x="51102" y="132576"/>
                      <a:pt x="51816" y="132552"/>
                    </a:cubicBezTo>
                    <a:lnTo>
                      <a:pt x="51769" y="131576"/>
                    </a:lnTo>
                    <a:close/>
                    <a:moveTo>
                      <a:pt x="47244" y="132576"/>
                    </a:moveTo>
                    <a:cubicBezTo>
                      <a:pt x="46911" y="132707"/>
                      <a:pt x="46577" y="132862"/>
                      <a:pt x="46244" y="133017"/>
                    </a:cubicBezTo>
                    <a:cubicBezTo>
                      <a:pt x="46042" y="133112"/>
                      <a:pt x="45839" y="133243"/>
                      <a:pt x="45637" y="133350"/>
                    </a:cubicBezTo>
                    <a:cubicBezTo>
                      <a:pt x="45482" y="133445"/>
                      <a:pt x="45327" y="133529"/>
                      <a:pt x="45173" y="133636"/>
                    </a:cubicBezTo>
                    <a:lnTo>
                      <a:pt x="45637" y="134374"/>
                    </a:lnTo>
                    <a:lnTo>
                      <a:pt x="45661" y="134457"/>
                    </a:lnTo>
                    <a:cubicBezTo>
                      <a:pt x="45887" y="134303"/>
                      <a:pt x="46125" y="134172"/>
                      <a:pt x="46351" y="134041"/>
                    </a:cubicBezTo>
                    <a:cubicBezTo>
                      <a:pt x="46756" y="133838"/>
                      <a:pt x="47173" y="133636"/>
                      <a:pt x="47613" y="133481"/>
                    </a:cubicBezTo>
                    <a:lnTo>
                      <a:pt x="47244" y="132576"/>
                    </a:lnTo>
                    <a:close/>
                    <a:moveTo>
                      <a:pt x="43291" y="134993"/>
                    </a:moveTo>
                    <a:cubicBezTo>
                      <a:pt x="43041" y="135219"/>
                      <a:pt x="42779" y="135457"/>
                      <a:pt x="42553" y="135707"/>
                    </a:cubicBezTo>
                    <a:cubicBezTo>
                      <a:pt x="42375" y="135886"/>
                      <a:pt x="42196" y="136065"/>
                      <a:pt x="42017" y="136279"/>
                    </a:cubicBezTo>
                    <a:cubicBezTo>
                      <a:pt x="41910" y="136398"/>
                      <a:pt x="41779" y="136529"/>
                      <a:pt x="41672" y="136660"/>
                    </a:cubicBezTo>
                    <a:lnTo>
                      <a:pt x="42422" y="137279"/>
                    </a:lnTo>
                    <a:lnTo>
                      <a:pt x="42470" y="137196"/>
                    </a:lnTo>
                    <a:cubicBezTo>
                      <a:pt x="42708" y="136946"/>
                      <a:pt x="42934" y="136684"/>
                      <a:pt x="43172" y="136458"/>
                    </a:cubicBezTo>
                    <a:cubicBezTo>
                      <a:pt x="43196" y="136434"/>
                      <a:pt x="43196" y="136398"/>
                      <a:pt x="43220" y="136398"/>
                    </a:cubicBezTo>
                    <a:cubicBezTo>
                      <a:pt x="43291" y="136303"/>
                      <a:pt x="43398" y="136219"/>
                      <a:pt x="43470" y="136148"/>
                    </a:cubicBezTo>
                    <a:cubicBezTo>
                      <a:pt x="43506" y="136100"/>
                      <a:pt x="43553" y="136065"/>
                      <a:pt x="43577" y="136041"/>
                    </a:cubicBezTo>
                    <a:cubicBezTo>
                      <a:pt x="43601" y="136017"/>
                      <a:pt x="43625" y="135993"/>
                      <a:pt x="43660" y="135969"/>
                    </a:cubicBezTo>
                    <a:cubicBezTo>
                      <a:pt x="43660" y="135969"/>
                      <a:pt x="43684" y="135946"/>
                      <a:pt x="43708" y="135922"/>
                    </a:cubicBezTo>
                    <a:cubicBezTo>
                      <a:pt x="43732" y="135886"/>
                      <a:pt x="43756" y="135862"/>
                      <a:pt x="43779" y="135862"/>
                    </a:cubicBezTo>
                    <a:lnTo>
                      <a:pt x="43910" y="135731"/>
                    </a:lnTo>
                    <a:lnTo>
                      <a:pt x="43934" y="135731"/>
                    </a:lnTo>
                    <a:lnTo>
                      <a:pt x="43910" y="135707"/>
                    </a:lnTo>
                    <a:lnTo>
                      <a:pt x="43291" y="134993"/>
                    </a:lnTo>
                    <a:close/>
                    <a:moveTo>
                      <a:pt x="40339" y="138589"/>
                    </a:moveTo>
                    <a:cubicBezTo>
                      <a:pt x="40029" y="139148"/>
                      <a:pt x="39755" y="139720"/>
                      <a:pt x="39517" y="140327"/>
                    </a:cubicBezTo>
                    <a:cubicBezTo>
                      <a:pt x="39469" y="140434"/>
                      <a:pt x="39422" y="140565"/>
                      <a:pt x="39362" y="140696"/>
                    </a:cubicBezTo>
                    <a:lnTo>
                      <a:pt x="40267" y="141030"/>
                    </a:lnTo>
                    <a:cubicBezTo>
                      <a:pt x="40291" y="140970"/>
                      <a:pt x="40315" y="140922"/>
                      <a:pt x="40339" y="140875"/>
                    </a:cubicBezTo>
                    <a:cubicBezTo>
                      <a:pt x="40577" y="140256"/>
                      <a:pt x="40851" y="139637"/>
                      <a:pt x="41184" y="139053"/>
                    </a:cubicBezTo>
                    <a:lnTo>
                      <a:pt x="40339" y="138589"/>
                    </a:lnTo>
                    <a:close/>
                    <a:moveTo>
                      <a:pt x="38755" y="142923"/>
                    </a:moveTo>
                    <a:cubicBezTo>
                      <a:pt x="38755" y="142982"/>
                      <a:pt x="38755" y="143030"/>
                      <a:pt x="38719" y="143054"/>
                    </a:cubicBezTo>
                    <a:cubicBezTo>
                      <a:pt x="38600" y="143768"/>
                      <a:pt x="38541" y="144518"/>
                      <a:pt x="38517" y="145232"/>
                    </a:cubicBezTo>
                    <a:lnTo>
                      <a:pt x="39469" y="145268"/>
                    </a:lnTo>
                    <a:cubicBezTo>
                      <a:pt x="39493" y="144673"/>
                      <a:pt x="39541" y="144101"/>
                      <a:pt x="39624" y="143542"/>
                    </a:cubicBezTo>
                    <a:cubicBezTo>
                      <a:pt x="39648" y="143411"/>
                      <a:pt x="39672" y="143256"/>
                      <a:pt x="39696" y="143101"/>
                    </a:cubicBezTo>
                    <a:lnTo>
                      <a:pt x="38755" y="142923"/>
                    </a:lnTo>
                    <a:close/>
                    <a:moveTo>
                      <a:pt x="38517" y="147495"/>
                    </a:moveTo>
                    <a:lnTo>
                      <a:pt x="38517" y="149733"/>
                    </a:lnTo>
                    <a:lnTo>
                      <a:pt x="39469" y="149733"/>
                    </a:lnTo>
                    <a:lnTo>
                      <a:pt x="39469" y="147495"/>
                    </a:lnTo>
                    <a:close/>
                    <a:moveTo>
                      <a:pt x="38517" y="151995"/>
                    </a:moveTo>
                    <a:lnTo>
                      <a:pt x="38517" y="154222"/>
                    </a:lnTo>
                    <a:lnTo>
                      <a:pt x="39469" y="154222"/>
                    </a:lnTo>
                    <a:lnTo>
                      <a:pt x="39469" y="151995"/>
                    </a:lnTo>
                    <a:close/>
                    <a:moveTo>
                      <a:pt x="38517" y="156484"/>
                    </a:moveTo>
                    <a:lnTo>
                      <a:pt x="38517" y="158722"/>
                    </a:lnTo>
                    <a:lnTo>
                      <a:pt x="39469" y="158722"/>
                    </a:lnTo>
                    <a:lnTo>
                      <a:pt x="39469" y="156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g3a819a1e23a_3_73"/>
            <p:cNvGrpSpPr/>
            <p:nvPr/>
          </p:nvGrpSpPr>
          <p:grpSpPr>
            <a:xfrm rot="5400000">
              <a:off x="1174626" y="220151"/>
              <a:ext cx="932772" cy="932772"/>
              <a:chOff x="6604775" y="1679913"/>
              <a:chExt cx="567000" cy="567000"/>
            </a:xfrm>
          </p:grpSpPr>
          <p:sp>
            <p:nvSpPr>
              <p:cNvPr id="245" name="Google Shape;245;g3a819a1e23a_3_73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rgbClr val="00C5BB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g3a819a1e23a_3_73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g3a819a1e23a_3_73"/>
            <p:cNvGrpSpPr/>
            <p:nvPr/>
          </p:nvGrpSpPr>
          <p:grpSpPr>
            <a:xfrm rot="5400000">
              <a:off x="5515828" y="1152925"/>
              <a:ext cx="932772" cy="932772"/>
              <a:chOff x="6604775" y="1679913"/>
              <a:chExt cx="567000" cy="567000"/>
            </a:xfrm>
          </p:grpSpPr>
          <p:sp>
            <p:nvSpPr>
              <p:cNvPr id="248" name="Google Shape;248;g3a819a1e23a_3_73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rgbClr val="FFD000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g3a819a1e23a_3_73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g3a819a1e23a_3_73"/>
            <p:cNvGrpSpPr/>
            <p:nvPr/>
          </p:nvGrpSpPr>
          <p:grpSpPr>
            <a:xfrm rot="5400000">
              <a:off x="811527" y="2568648"/>
              <a:ext cx="932772" cy="932772"/>
              <a:chOff x="6604775" y="1679913"/>
              <a:chExt cx="567000" cy="567000"/>
            </a:xfrm>
          </p:grpSpPr>
          <p:sp>
            <p:nvSpPr>
              <p:cNvPr id="251" name="Google Shape;251;g3a819a1e23a_3_73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rgbClr val="FF5656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g3a819a1e23a_3_73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g3a819a1e23a_3_73"/>
            <p:cNvGrpSpPr/>
            <p:nvPr/>
          </p:nvGrpSpPr>
          <p:grpSpPr>
            <a:xfrm rot="5400000">
              <a:off x="5567473" y="4005455"/>
              <a:ext cx="932772" cy="932772"/>
              <a:chOff x="6604775" y="1679913"/>
              <a:chExt cx="567000" cy="567000"/>
            </a:xfrm>
          </p:grpSpPr>
          <p:sp>
            <p:nvSpPr>
              <p:cNvPr id="254" name="Google Shape;254;g3a819a1e23a_3_73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rgbClr val="0092C7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g3a819a1e23a_3_73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g3a819a1e23a_3_73"/>
            <p:cNvGrpSpPr/>
            <p:nvPr/>
          </p:nvGrpSpPr>
          <p:grpSpPr>
            <a:xfrm rot="5400000">
              <a:off x="2697291" y="4938229"/>
              <a:ext cx="932772" cy="932772"/>
              <a:chOff x="6604775" y="1679913"/>
              <a:chExt cx="567000" cy="567000"/>
            </a:xfrm>
          </p:grpSpPr>
          <p:sp>
            <p:nvSpPr>
              <p:cNvPr id="257" name="Google Shape;257;g3a819a1e23a_3_73"/>
              <p:cNvSpPr/>
              <p:nvPr/>
            </p:nvSpPr>
            <p:spPr>
              <a:xfrm rot="2700000">
                <a:off x="6687810" y="1762948"/>
                <a:ext cx="400930" cy="400930"/>
              </a:xfrm>
              <a:prstGeom prst="teardrop">
                <a:avLst>
                  <a:gd fmla="val 100000" name="adj"/>
                </a:avLst>
              </a:prstGeom>
              <a:solidFill>
                <a:srgbClr val="FF9831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g3a819a1e23a_3_73"/>
              <p:cNvSpPr/>
              <p:nvPr/>
            </p:nvSpPr>
            <p:spPr>
              <a:xfrm>
                <a:off x="6762521" y="1837683"/>
                <a:ext cx="251514" cy="251487"/>
              </a:xfrm>
              <a:custGeom>
                <a:rect b="b" l="l" r="r" t="t"/>
                <a:pathLst>
                  <a:path extrusionOk="0" h="9097" w="9098">
                    <a:moveTo>
                      <a:pt x="4549" y="0"/>
                    </a:moveTo>
                    <a:cubicBezTo>
                      <a:pt x="2037" y="0"/>
                      <a:pt x="1" y="2036"/>
                      <a:pt x="1" y="4548"/>
                    </a:cubicBezTo>
                    <a:cubicBezTo>
                      <a:pt x="1" y="7060"/>
                      <a:pt x="2037" y="9096"/>
                      <a:pt x="4549" y="9096"/>
                    </a:cubicBezTo>
                    <a:cubicBezTo>
                      <a:pt x="7061" y="9096"/>
                      <a:pt x="9097" y="7060"/>
                      <a:pt x="9097" y="4548"/>
                    </a:cubicBezTo>
                    <a:cubicBezTo>
                      <a:pt x="9097" y="2036"/>
                      <a:pt x="7061" y="0"/>
                      <a:pt x="4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0050" lIns="90050" spcFirstLastPara="1" rIns="90050" wrap="square" tIns="900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73"/>
                  <a:buFont typeface="Calibri"/>
                  <a:buNone/>
                </a:pPr>
                <a:r>
                  <a:t/>
                </a:r>
                <a:endParaRPr b="0" i="0" sz="177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9" name="Google Shape;259;g3a819a1e23a_3_73"/>
          <p:cNvSpPr/>
          <p:nvPr/>
        </p:nvSpPr>
        <p:spPr>
          <a:xfrm>
            <a:off x="473000" y="154875"/>
            <a:ext cx="63294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 SemiBold"/>
              <a:buNone/>
            </a:pPr>
            <a:r>
              <a:rPr b="1" i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Roadmap </a:t>
            </a:r>
            <a:r>
              <a:rPr b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 5 Años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0" name="Google Shape;260;g3a819a1e23a_3_73"/>
          <p:cNvSpPr/>
          <p:nvPr/>
        </p:nvSpPr>
        <p:spPr>
          <a:xfrm>
            <a:off x="7145325" y="1753875"/>
            <a:ext cx="5923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lang="en-US" sz="28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2026: Lanzamiento y Validación</a:t>
            </a:r>
            <a:endParaRPr i="0" sz="28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1" name="Google Shape;261;g3a819a1e23a_3_73"/>
          <p:cNvSpPr/>
          <p:nvPr/>
        </p:nvSpPr>
        <p:spPr>
          <a:xfrm>
            <a:off x="7145325" y="2235250"/>
            <a:ext cx="73953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Penetración inicial y validación técnica.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2" name="Google Shape;262;g3a819a1e23a_3_73"/>
          <p:cNvSpPr/>
          <p:nvPr/>
        </p:nvSpPr>
        <p:spPr>
          <a:xfrm>
            <a:off x="7145325" y="2869027"/>
            <a:ext cx="703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lang="en-US" sz="28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2027-2028: Conversión y Crecimiento</a:t>
            </a:r>
            <a:endParaRPr i="0" sz="28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3" name="Google Shape;263;g3a819a1e23a_3_73"/>
          <p:cNvSpPr/>
          <p:nvPr/>
        </p:nvSpPr>
        <p:spPr>
          <a:xfrm>
            <a:off x="7145325" y="3356713"/>
            <a:ext cx="70323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Upselling (pasar de Módulos a Plataforma).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4" name="Google Shape;264;g3a819a1e23a_3_73"/>
          <p:cNvSpPr/>
          <p:nvPr/>
        </p:nvSpPr>
        <p:spPr>
          <a:xfrm>
            <a:off x="7145325" y="3947074"/>
            <a:ext cx="5260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lang="en-US" sz="28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2029: Desarrollo de Mercado</a:t>
            </a:r>
            <a:endParaRPr i="0" sz="28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5" name="Google Shape;265;g3a819a1e23a_3_73"/>
          <p:cNvSpPr/>
          <p:nvPr/>
        </p:nvSpPr>
        <p:spPr>
          <a:xfrm>
            <a:off x="7145325" y="4437505"/>
            <a:ext cx="7796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</a:t>
            </a: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uevos desarrollos de producto.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6" name="Google Shape;266;g3a819a1e23a_3_73"/>
          <p:cNvSpPr/>
          <p:nvPr/>
        </p:nvSpPr>
        <p:spPr>
          <a:xfrm>
            <a:off x="7145325" y="5025875"/>
            <a:ext cx="70323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lang="en-US" sz="28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2030: Madurez y Rentabilidad</a:t>
            </a:r>
            <a:endParaRPr i="0" sz="28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7" name="Google Shape;267;g3a819a1e23a_3_73"/>
          <p:cNvSpPr/>
          <p:nvPr/>
        </p:nvSpPr>
        <p:spPr>
          <a:xfrm>
            <a:off x="7145325" y="5530250"/>
            <a:ext cx="73953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 alcanza el payback de la inversión, los ingresos de la plataforma son los principales.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8" name="Google Shape;268;g3a819a1e23a_3_73"/>
          <p:cNvSpPr/>
          <p:nvPr/>
        </p:nvSpPr>
        <p:spPr>
          <a:xfrm>
            <a:off x="7145325" y="6429725"/>
            <a:ext cx="70323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lang="en-US" sz="28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2030+: Nuevos Horizontes</a:t>
            </a:r>
            <a:endParaRPr i="0" sz="28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9" name="Google Shape;269;g3a819a1e23a_3_73"/>
          <p:cNvSpPr/>
          <p:nvPr/>
        </p:nvSpPr>
        <p:spPr>
          <a:xfrm>
            <a:off x="7145325" y="6934100"/>
            <a:ext cx="73953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 una participación regional asegurada, evaluaremos nuevas verticales de negocio.</a:t>
            </a:r>
            <a:endParaRPr sz="2000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8d873cfdc_0_3"/>
          <p:cNvSpPr/>
          <p:nvPr/>
        </p:nvSpPr>
        <p:spPr>
          <a:xfrm>
            <a:off x="564000" y="581150"/>
            <a:ext cx="923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Inversión y</a:t>
            </a:r>
            <a:endParaRPr b="1" sz="54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Rentabilidad Proyectada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76" name="Google Shape;276;g3a8d873cfdc_0_3"/>
          <p:cNvSpPr/>
          <p:nvPr/>
        </p:nvSpPr>
        <p:spPr>
          <a:xfrm>
            <a:off x="564000" y="2493875"/>
            <a:ext cx="13350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i="0" lang="en-US" sz="240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Una inversión estratégica con un retorno significativo a largo plazo.</a:t>
            </a:r>
            <a:endParaRPr i="0" sz="24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277" name="Google Shape;277;g3a8d873cfdc_0_3" title="imagen_2025-11-22_18093259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1528" y="0"/>
            <a:ext cx="6078872" cy="12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a8d873cfdc_0_3"/>
          <p:cNvSpPr/>
          <p:nvPr/>
        </p:nvSpPr>
        <p:spPr>
          <a:xfrm>
            <a:off x="12011700" y="73593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8d873cfdc_0_3"/>
          <p:cNvSpPr/>
          <p:nvPr/>
        </p:nvSpPr>
        <p:spPr>
          <a:xfrm>
            <a:off x="12011700" y="73593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8d873cfdc_0_3"/>
          <p:cNvSpPr/>
          <p:nvPr/>
        </p:nvSpPr>
        <p:spPr>
          <a:xfrm>
            <a:off x="7479075" y="3276005"/>
            <a:ext cx="6608100" cy="13422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a8d873cfdc_0_3"/>
          <p:cNvSpPr/>
          <p:nvPr/>
        </p:nvSpPr>
        <p:spPr>
          <a:xfrm>
            <a:off x="7731375" y="3343566"/>
            <a:ext cx="60678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25%</a:t>
            </a:r>
            <a:endParaRPr i="0" sz="48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82" name="Google Shape;282;g3a8d873cfdc_0_3"/>
          <p:cNvSpPr/>
          <p:nvPr/>
        </p:nvSpPr>
        <p:spPr>
          <a:xfrm>
            <a:off x="7731375" y="3871559"/>
            <a:ext cx="60678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Tasa Interna de Retorno</a:t>
            </a:r>
            <a:endParaRPr i="0" sz="20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83" name="Google Shape;283;g3a8d873cfdc_0_3"/>
          <p:cNvSpPr/>
          <p:nvPr/>
        </p:nvSpPr>
        <p:spPr>
          <a:xfrm>
            <a:off x="543225" y="3280325"/>
            <a:ext cx="6608100" cy="13422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8d873cfdc_0_3"/>
          <p:cNvSpPr/>
          <p:nvPr/>
        </p:nvSpPr>
        <p:spPr>
          <a:xfrm>
            <a:off x="795525" y="3347885"/>
            <a:ext cx="60678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130%</a:t>
            </a:r>
            <a:endParaRPr i="0" sz="48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85" name="Google Shape;285;g3a8d873cfdc_0_3"/>
          <p:cNvSpPr/>
          <p:nvPr/>
        </p:nvSpPr>
        <p:spPr>
          <a:xfrm>
            <a:off x="777675" y="3875404"/>
            <a:ext cx="60678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Rentabilidad</a:t>
            </a:r>
            <a:endParaRPr i="0" sz="20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86" name="Google Shape;286;g3a8d873cfdc_0_3"/>
          <p:cNvSpPr/>
          <p:nvPr/>
        </p:nvSpPr>
        <p:spPr>
          <a:xfrm>
            <a:off x="7489450" y="4841529"/>
            <a:ext cx="6608100" cy="13551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a8d873cfdc_0_3"/>
          <p:cNvSpPr/>
          <p:nvPr/>
        </p:nvSpPr>
        <p:spPr>
          <a:xfrm>
            <a:off x="7741750" y="4909007"/>
            <a:ext cx="60678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40%</a:t>
            </a:r>
            <a:endParaRPr i="0" sz="48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88" name="Google Shape;288;g3a8d873cfdc_0_3"/>
          <p:cNvSpPr/>
          <p:nvPr/>
        </p:nvSpPr>
        <p:spPr>
          <a:xfrm>
            <a:off x="7741750" y="5453713"/>
            <a:ext cx="6067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Tasa del Préstamo</a:t>
            </a:r>
            <a:endParaRPr i="0" sz="20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89" name="Google Shape;289;g3a8d873cfdc_0_3"/>
          <p:cNvSpPr/>
          <p:nvPr/>
        </p:nvSpPr>
        <p:spPr>
          <a:xfrm>
            <a:off x="532825" y="4854463"/>
            <a:ext cx="6608100" cy="13422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0" name="Google Shape;290;g3a8d873cfdc_0_3"/>
          <p:cNvSpPr/>
          <p:nvPr/>
        </p:nvSpPr>
        <p:spPr>
          <a:xfrm>
            <a:off x="785125" y="4922024"/>
            <a:ext cx="6067800" cy="8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215M ARS</a:t>
            </a:r>
            <a:endParaRPr b="1" sz="4800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1" name="Google Shape;291;g3a8d873cfdc_0_3"/>
          <p:cNvSpPr/>
          <p:nvPr/>
        </p:nvSpPr>
        <p:spPr>
          <a:xfrm>
            <a:off x="785125" y="5465793"/>
            <a:ext cx="60678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Préstamo</a:t>
            </a:r>
            <a:endParaRPr i="0" sz="20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2" name="Google Shape;292;g3a8d873cfdc_0_3"/>
          <p:cNvSpPr/>
          <p:nvPr/>
        </p:nvSpPr>
        <p:spPr>
          <a:xfrm>
            <a:off x="7461225" y="6483122"/>
            <a:ext cx="6608100" cy="13551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293" name="Google Shape;293;g3a8d873cfdc_0_3"/>
          <p:cNvSpPr/>
          <p:nvPr/>
        </p:nvSpPr>
        <p:spPr>
          <a:xfrm>
            <a:off x="7713525" y="6550600"/>
            <a:ext cx="60678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400M</a:t>
            </a:r>
            <a:r>
              <a:rPr b="1" i="0" lang="en-US" sz="4800" u="none" cap="none" strike="noStrike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ARS</a:t>
            </a:r>
            <a:endParaRPr i="0" sz="48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4" name="Google Shape;294;g3a8d873cfdc_0_3"/>
          <p:cNvSpPr/>
          <p:nvPr/>
        </p:nvSpPr>
        <p:spPr>
          <a:xfrm>
            <a:off x="7713525" y="7123003"/>
            <a:ext cx="6067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i="0" lang="en-US" sz="2000" u="none" cap="none" strike="noStrike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Inversión de Socios</a:t>
            </a:r>
            <a:endParaRPr i="0" sz="20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5" name="Google Shape;295;g3a8d873cfdc_0_3"/>
          <p:cNvSpPr/>
          <p:nvPr/>
        </p:nvSpPr>
        <p:spPr>
          <a:xfrm>
            <a:off x="543225" y="6496183"/>
            <a:ext cx="6608100" cy="13551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296" name="Google Shape;296;g3a8d873cfdc_0_3"/>
          <p:cNvSpPr/>
          <p:nvPr/>
        </p:nvSpPr>
        <p:spPr>
          <a:xfrm>
            <a:off x="795525" y="6563661"/>
            <a:ext cx="60678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25%</a:t>
            </a:r>
            <a:endParaRPr i="0" sz="48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7" name="Google Shape;297;g3a8d873cfdc_0_3"/>
          <p:cNvSpPr/>
          <p:nvPr/>
        </p:nvSpPr>
        <p:spPr>
          <a:xfrm>
            <a:off x="795525" y="7131719"/>
            <a:ext cx="60678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Participación</a:t>
            </a:r>
            <a:endParaRPr i="0" sz="20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904c1f9d5_5_0"/>
          <p:cNvSpPr/>
          <p:nvPr/>
        </p:nvSpPr>
        <p:spPr>
          <a:xfrm>
            <a:off x="564000" y="267650"/>
            <a:ext cx="13526100" cy="12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5400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Uso de Fondos</a:t>
            </a:r>
            <a:endParaRPr i="0" sz="54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04" name="Google Shape;304;g3a904c1f9d5_5_0"/>
          <p:cNvSpPr/>
          <p:nvPr/>
        </p:nvSpPr>
        <p:spPr>
          <a:xfrm>
            <a:off x="11979300" y="7740300"/>
            <a:ext cx="2651100" cy="48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5" name="Google Shape;305;g3a904c1f9d5_5_0"/>
          <p:cNvSpPr/>
          <p:nvPr/>
        </p:nvSpPr>
        <p:spPr>
          <a:xfrm>
            <a:off x="564000" y="6246600"/>
            <a:ext cx="13627200" cy="1569900"/>
          </a:xfrm>
          <a:prstGeom prst="roundRect">
            <a:avLst>
              <a:gd fmla="val 16667" name="adj"/>
            </a:avLst>
          </a:prstGeom>
          <a:solidFill>
            <a:srgbClr val="DEEE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Cada peso invertido en acelerar nuestro </a:t>
            </a:r>
            <a:r>
              <a:rPr i="1"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time-to-market</a:t>
            </a:r>
            <a:br>
              <a:rPr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y en capturar el mercado </a:t>
            </a:r>
            <a:r>
              <a:rPr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AHORA</a:t>
            </a:r>
            <a:r>
              <a:rPr lang="en-US" sz="32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.</a:t>
            </a:r>
            <a:endParaRPr sz="32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06" name="Google Shape;306;g3a904c1f9d5_5_0"/>
          <p:cNvSpPr/>
          <p:nvPr/>
        </p:nvSpPr>
        <p:spPr>
          <a:xfrm>
            <a:off x="564000" y="1795823"/>
            <a:ext cx="6608100" cy="19263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307" name="Google Shape;307;g3a904c1f9d5_5_0"/>
          <p:cNvSpPr/>
          <p:nvPr/>
        </p:nvSpPr>
        <p:spPr>
          <a:xfrm>
            <a:off x="816300" y="1891740"/>
            <a:ext cx="6067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192</a:t>
            </a: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</a:t>
            </a:r>
            <a:r>
              <a:rPr b="1" i="0" lang="en-US" sz="4800" u="none" cap="none" strike="noStrike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ARS</a:t>
            </a:r>
            <a:endParaRPr i="0" sz="48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08" name="Google Shape;308;g3a904c1f9d5_5_0"/>
          <p:cNvSpPr/>
          <p:nvPr/>
        </p:nvSpPr>
        <p:spPr>
          <a:xfrm>
            <a:off x="816300" y="2705383"/>
            <a:ext cx="60678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Equipo Inicial (48%)</a:t>
            </a:r>
            <a:endParaRPr i="0" sz="20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09" name="Google Shape;309;g3a904c1f9d5_5_0"/>
          <p:cNvSpPr/>
          <p:nvPr/>
        </p:nvSpPr>
        <p:spPr>
          <a:xfrm>
            <a:off x="7482000" y="1802022"/>
            <a:ext cx="6608100" cy="19263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310" name="Google Shape;310;g3a904c1f9d5_5_0"/>
          <p:cNvSpPr/>
          <p:nvPr/>
        </p:nvSpPr>
        <p:spPr>
          <a:xfrm>
            <a:off x="7734300" y="1897939"/>
            <a:ext cx="6067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144M ARS</a:t>
            </a:r>
            <a:endParaRPr i="0" sz="48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1" name="Google Shape;311;g3a904c1f9d5_5_0"/>
          <p:cNvSpPr/>
          <p:nvPr/>
        </p:nvSpPr>
        <p:spPr>
          <a:xfrm>
            <a:off x="7734300" y="2705407"/>
            <a:ext cx="60678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Marketing y Ventas (36%)</a:t>
            </a:r>
            <a:endParaRPr i="0" sz="20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2" name="Google Shape;312;g3a904c1f9d5_5_0"/>
          <p:cNvSpPr/>
          <p:nvPr/>
        </p:nvSpPr>
        <p:spPr>
          <a:xfrm>
            <a:off x="7479075" y="3921688"/>
            <a:ext cx="6608100" cy="19080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904c1f9d5_5_0"/>
          <p:cNvSpPr/>
          <p:nvPr/>
        </p:nvSpPr>
        <p:spPr>
          <a:xfrm>
            <a:off x="7731375" y="4017722"/>
            <a:ext cx="60678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32M ARS</a:t>
            </a:r>
            <a:endParaRPr i="0" sz="48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4" name="Google Shape;314;g3a904c1f9d5_5_0"/>
          <p:cNvSpPr/>
          <p:nvPr/>
        </p:nvSpPr>
        <p:spPr>
          <a:xfrm>
            <a:off x="7731375" y="4768240"/>
            <a:ext cx="60678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Tecnología (8%)</a:t>
            </a:r>
            <a:endParaRPr i="0" sz="20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5" name="Google Shape;315;g3a904c1f9d5_5_0"/>
          <p:cNvSpPr/>
          <p:nvPr/>
        </p:nvSpPr>
        <p:spPr>
          <a:xfrm>
            <a:off x="543225" y="3927828"/>
            <a:ext cx="6608100" cy="19080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a904c1f9d5_5_0"/>
          <p:cNvSpPr/>
          <p:nvPr/>
        </p:nvSpPr>
        <p:spPr>
          <a:xfrm>
            <a:off x="795525" y="4023862"/>
            <a:ext cx="60678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32M ARS</a:t>
            </a:r>
            <a:endParaRPr i="0" sz="48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17" name="Google Shape;317;g3a904c1f9d5_5_0"/>
          <p:cNvSpPr/>
          <p:nvPr/>
        </p:nvSpPr>
        <p:spPr>
          <a:xfrm>
            <a:off x="777675" y="4773704"/>
            <a:ext cx="60678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Operaciones (8%)</a:t>
            </a:r>
            <a:endParaRPr i="0" sz="20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d873cfdc_0_45"/>
          <p:cNvSpPr/>
          <p:nvPr/>
        </p:nvSpPr>
        <p:spPr>
          <a:xfrm>
            <a:off x="640200" y="467275"/>
            <a:ext cx="13450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00"/>
              <a:buFont typeface="Instrument Sans SemiBold"/>
              <a:buNone/>
            </a:pPr>
            <a:r>
              <a:rPr b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EBITDA &amp; VAN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24" name="Google Shape;324;g3a8d873cfdc_0_45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g3a8d873cfdc_0_45" title="Puntuación obteni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00" y="1371491"/>
            <a:ext cx="8134251" cy="635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a8d873cfdc_0_45"/>
          <p:cNvSpPr/>
          <p:nvPr/>
        </p:nvSpPr>
        <p:spPr>
          <a:xfrm>
            <a:off x="9337000" y="2449700"/>
            <a:ext cx="47145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94"/>
              <a:buFont typeface="Instrument Sans SemiBold"/>
              <a:buNone/>
            </a:pPr>
            <a:r>
              <a:rPr b="1" lang="en-US" sz="2800">
                <a:solidFill>
                  <a:srgbClr val="1E306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Años 1-2</a:t>
            </a:r>
            <a:endParaRPr i="0" sz="28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27" name="Google Shape;327;g3a8d873cfdc_0_45"/>
          <p:cNvSpPr/>
          <p:nvPr/>
        </p:nvSpPr>
        <p:spPr>
          <a:xfrm>
            <a:off x="9096800" y="2941575"/>
            <a:ext cx="4993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18"/>
              <a:buFont typeface="Instrument Sans Medium"/>
              <a:buNone/>
            </a:pP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Estrategia </a:t>
            </a: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penetración</a:t>
            </a: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 de mercado y fuerte </a:t>
            </a: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inversión</a:t>
            </a: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 en marketing.</a:t>
            </a:r>
            <a:endParaRPr i="0" sz="2082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28" name="Google Shape;328;g3a8d873cfdc_0_45"/>
          <p:cNvSpPr/>
          <p:nvPr/>
        </p:nvSpPr>
        <p:spPr>
          <a:xfrm>
            <a:off x="9337000" y="4468125"/>
            <a:ext cx="47145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694"/>
              <a:buFont typeface="Instrument Sans SemiBold"/>
              <a:buNone/>
            </a:pPr>
            <a:r>
              <a:rPr b="1" lang="en-US" sz="2800">
                <a:solidFill>
                  <a:srgbClr val="1E306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Años 3-5</a:t>
            </a:r>
            <a:endParaRPr i="0" sz="28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29" name="Google Shape;329;g3a8d873cfdc_0_45"/>
          <p:cNvSpPr/>
          <p:nvPr/>
        </p:nvSpPr>
        <p:spPr>
          <a:xfrm>
            <a:off x="9246300" y="4960000"/>
            <a:ext cx="48051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18"/>
              <a:buFont typeface="Instrument Sans Medium"/>
              <a:buNone/>
            </a:pP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Modelo SaaS altamente escalable y masa </a:t>
            </a: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crítica</a:t>
            </a:r>
            <a:r>
              <a:rPr lang="en-US" sz="2082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 de clientes.</a:t>
            </a:r>
            <a:endParaRPr i="0" sz="2082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30" name="Google Shape;330;g3a8d873cfdc_0_45"/>
          <p:cNvSpPr/>
          <p:nvPr/>
        </p:nvSpPr>
        <p:spPr>
          <a:xfrm>
            <a:off x="9144250" y="6135187"/>
            <a:ext cx="5100000" cy="13944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308746" rotWithShape="0" algn="bl" dir="5400000" dist="117618">
              <a:srgbClr val="000000">
                <a:alpha val="50000"/>
              </a:srgbClr>
            </a:outerShdw>
          </a:effectLst>
        </p:spPr>
        <p:txBody>
          <a:bodyPr anchorCtr="0" anchor="ctr" bIns="70550" lIns="70550" spcFirstLastPara="1" rIns="70550" wrap="square" tIns="7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0"/>
          </a:p>
        </p:txBody>
      </p:sp>
      <p:sp>
        <p:nvSpPr>
          <p:cNvPr id="331" name="Google Shape;331;g3a8d873cfdc_0_45"/>
          <p:cNvSpPr/>
          <p:nvPr/>
        </p:nvSpPr>
        <p:spPr>
          <a:xfrm>
            <a:off x="9338966" y="6357586"/>
            <a:ext cx="4683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3666"/>
              <a:buFont typeface="Instrument Sans SemiBold"/>
              <a:buNone/>
            </a:pPr>
            <a:r>
              <a:rPr b="1" lang="en-US" sz="4167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75</a:t>
            </a:r>
            <a:r>
              <a:rPr b="1" lang="en-US" sz="4167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</a:t>
            </a:r>
            <a:r>
              <a:rPr b="1" i="0" lang="en-US" sz="4167" u="none" cap="none" strike="noStrike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 ARS</a:t>
            </a:r>
            <a:endParaRPr i="0" sz="4167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32" name="Google Shape;332;g3a8d873cfdc_0_45"/>
          <p:cNvSpPr/>
          <p:nvPr/>
        </p:nvSpPr>
        <p:spPr>
          <a:xfrm>
            <a:off x="9338966" y="6818462"/>
            <a:ext cx="4683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389"/>
              <a:buFont typeface="Instrument Sans SemiBold"/>
              <a:buNone/>
            </a:pPr>
            <a:r>
              <a:rPr b="1" lang="en-US" sz="1697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VAN DEL PROYECTO AL AÑO 5</a:t>
            </a:r>
            <a:endParaRPr i="0" sz="1697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"/>
          <p:cNvSpPr/>
          <p:nvPr/>
        </p:nvSpPr>
        <p:spPr>
          <a:xfrm>
            <a:off x="732115" y="575191"/>
            <a:ext cx="13166169" cy="1307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Conclusión</a:t>
            </a:r>
            <a:endParaRPr b="1" sz="5400">
              <a:solidFill>
                <a:srgbClr val="091C53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100"/>
              <a:buFont typeface="Instrument Sans SemiBold"/>
              <a:buNone/>
            </a:pPr>
            <a:r>
              <a:rPr b="1" i="0" lang="en-US" sz="4100" u="none" cap="none" strike="noStrike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Una </a:t>
            </a:r>
            <a:r>
              <a:rPr b="1" lang="en-US" sz="41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</a:t>
            </a:r>
            <a:r>
              <a:rPr b="1" i="0" lang="en-US" sz="4100" u="none" cap="none" strike="noStrike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nversión </a:t>
            </a:r>
            <a:r>
              <a:rPr b="1" lang="en-US" sz="41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</a:t>
            </a:r>
            <a:r>
              <a:rPr b="1" i="0" lang="en-US" sz="4100" u="none" cap="none" strike="noStrike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ólida en el </a:t>
            </a:r>
            <a:r>
              <a:rPr b="1" lang="en-US" sz="41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</a:t>
            </a:r>
            <a:r>
              <a:rPr b="1" i="0" lang="en-US" sz="4100" u="none" cap="none" strike="noStrike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uturo </a:t>
            </a:r>
            <a:r>
              <a:rPr b="1" lang="en-US" sz="41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</a:t>
            </a:r>
            <a:r>
              <a:rPr b="1" i="0" lang="en-US" sz="4100" u="none" cap="none" strike="noStrike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ducativo</a:t>
            </a:r>
            <a:endParaRPr i="0" sz="41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1311450" y="4301437"/>
            <a:ext cx="30102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i="0" lang="en-US" sz="27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Riesgo Técnico Mitigado</a:t>
            </a:r>
            <a:endParaRPr i="0" sz="27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9430120" y="2892605"/>
            <a:ext cx="34884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i="0" lang="en-US" sz="27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Riesgo de Me</a:t>
            </a:r>
            <a:r>
              <a:rPr b="1" i="0" lang="en-US" sz="27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rcado</a:t>
            </a:r>
            <a:r>
              <a:rPr b="1" lang="en-US" sz="275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1" i="0" lang="en-US" sz="27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Mitigado</a:t>
            </a:r>
            <a:endParaRPr i="0" sz="27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9430125" y="5693242"/>
            <a:ext cx="35934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lang="en-US" sz="275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1" i="0" lang="en-US" sz="27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Riesgo de Adopción</a:t>
            </a:r>
            <a:endParaRPr b="1" sz="275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2050"/>
              <a:buFont typeface="Instrument Sans SemiBold"/>
              <a:buNone/>
            </a:pPr>
            <a:r>
              <a:rPr b="1" i="0" lang="en-US" sz="27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Mitigado</a:t>
            </a:r>
            <a:endParaRPr i="0" sz="27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2702000" y="7466261"/>
            <a:ext cx="1928400" cy="66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10"/>
          <p:cNvGrpSpPr/>
          <p:nvPr/>
        </p:nvGrpSpPr>
        <p:grpSpPr>
          <a:xfrm>
            <a:off x="4611719" y="2389990"/>
            <a:ext cx="4900690" cy="4820969"/>
            <a:chOff x="6992303" y="2871073"/>
            <a:chExt cx="4684276" cy="4608076"/>
          </a:xfrm>
        </p:grpSpPr>
        <p:pic>
          <p:nvPicPr>
            <p:cNvPr descr="preencoded.png" id="344" name="Google Shape;344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5143" y="2871073"/>
              <a:ext cx="4608076" cy="4608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345" name="Google Shape;345;p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92303" y="2871073"/>
              <a:ext cx="4608076" cy="4608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346" name="Google Shape;346;p1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68503" y="2871073"/>
              <a:ext cx="4608076" cy="4608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10" title="tecnico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98294" y="4750592"/>
              <a:ext cx="849000" cy="849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10" title="adopcion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831400" y="5999048"/>
              <a:ext cx="849000" cy="8490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1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757450" y="3406425"/>
              <a:ext cx="849000" cy="84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"/>
          <p:cNvSpPr/>
          <p:nvPr/>
        </p:nvSpPr>
        <p:spPr>
          <a:xfrm>
            <a:off x="0" y="963275"/>
            <a:ext cx="146304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Muchas </a:t>
            </a:r>
            <a:r>
              <a:rPr b="1" lang="en-US" sz="540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G</a:t>
            </a: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racias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2011700" y="71307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1890875" y="5849650"/>
            <a:ext cx="5016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32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Demo Gratuita</a:t>
            </a:r>
            <a:endParaRPr i="0" sz="32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7266675" y="5849650"/>
            <a:ext cx="592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3200">
                <a:solidFill>
                  <a:srgbClr val="00827C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Página Web</a:t>
            </a:r>
            <a:endParaRPr i="0" sz="32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359" name="Google Shape;359;p11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674" y="2905063"/>
            <a:ext cx="2765314" cy="2765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5311" y="2905063"/>
            <a:ext cx="2765314" cy="2765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"/>
          <p:cNvSpPr/>
          <p:nvPr/>
        </p:nvSpPr>
        <p:spPr>
          <a:xfrm>
            <a:off x="12011700" y="712125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"/>
          <p:cNvSpPr/>
          <p:nvPr/>
        </p:nvSpPr>
        <p:spPr>
          <a:xfrm>
            <a:off x="729526" y="545300"/>
            <a:ext cx="13296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Tamaño de Mercado y</a:t>
            </a:r>
            <a:br>
              <a:rPr b="1" lang="en-US" sz="5400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b="1" i="0" lang="en-US" sz="5400" u="none" cap="none" strike="noStrike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Proyección Comercial</a:t>
            </a:r>
            <a:endParaRPr i="0" sz="54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793790" y="2393156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i="0" lang="en-US" sz="280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Estrategia de penetración enfocada en AMBA y crecimiento modular.</a:t>
            </a:r>
            <a:endParaRPr i="0" sz="28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793790" y="3314224"/>
            <a:ext cx="3402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i="0" lang="en-US" sz="26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Mercado Factible</a:t>
            </a:r>
            <a:endParaRPr i="0" sz="26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793750" y="3739525"/>
            <a:ext cx="3847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i="0" lang="en-US" sz="195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727 instituciones en AMBA</a:t>
            </a:r>
            <a:br>
              <a:rPr lang="en-US" sz="1950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</a:br>
            <a:r>
              <a:rPr i="0" lang="en-US" sz="195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(16% del mercado atendible).</a:t>
            </a:r>
            <a:endParaRPr i="0" sz="195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793790" y="4708446"/>
            <a:ext cx="3402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i="0" lang="en-US" sz="26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Objetivo a 5 Años</a:t>
            </a:r>
            <a:endParaRPr i="0" sz="26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793790" y="5229651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i="0" lang="en-US" sz="195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Capturar 80 clientes de la solución integral</a:t>
            </a:r>
            <a:br>
              <a:rPr lang="en-US" sz="1950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</a:br>
            <a:r>
              <a:rPr i="0" lang="en-US" sz="195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(11% del mercado factible).</a:t>
            </a:r>
            <a:endParaRPr i="0" sz="195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793803" y="6236975"/>
            <a:ext cx="6002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i="0" lang="en-US" sz="265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Tamaño de Mercado </a:t>
            </a:r>
            <a:r>
              <a:rPr b="1" lang="en-US" sz="2650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Captado</a:t>
            </a:r>
            <a:endParaRPr i="0" sz="26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793800" y="6740250"/>
            <a:ext cx="62448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750"/>
              <a:buFont typeface="Instrument Sans Medium"/>
              <a:buNone/>
            </a:pPr>
            <a:r>
              <a:rPr lang="en-US" sz="3250">
                <a:solidFill>
                  <a:srgbClr val="00324F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4.139 M </a:t>
            </a:r>
            <a:r>
              <a:rPr i="0" lang="en-US" sz="3250" u="none" cap="none" strike="noStrike">
                <a:solidFill>
                  <a:srgbClr val="00324F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ARS anuales.</a:t>
            </a:r>
            <a:endParaRPr i="0" sz="325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descr="preencoded.png" id="375" name="Google Shape;3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6201" y="3596849"/>
            <a:ext cx="7073373" cy="3961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"/>
          <p:cNvSpPr/>
          <p:nvPr/>
        </p:nvSpPr>
        <p:spPr>
          <a:xfrm>
            <a:off x="6796193" y="3233400"/>
            <a:ext cx="11661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2650"/>
              <a:buFont typeface="Instrument Sans SemiBold"/>
              <a:buNone/>
            </a:pPr>
            <a:r>
              <a:rPr b="1" lang="en-US" sz="2000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Clientes</a:t>
            </a:r>
            <a:endParaRPr i="0" sz="20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93a98438f_0_0"/>
          <p:cNvSpPr/>
          <p:nvPr/>
        </p:nvSpPr>
        <p:spPr>
          <a:xfrm>
            <a:off x="729526" y="545300"/>
            <a:ext cx="13296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5400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Nuestro Equipo</a:t>
            </a:r>
            <a:endParaRPr i="0" sz="54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83" name="Google Shape;383;g3a93a98438f_0_0"/>
          <p:cNvSpPr/>
          <p:nvPr/>
        </p:nvSpPr>
        <p:spPr>
          <a:xfrm>
            <a:off x="12011700" y="712125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4" name="Google Shape;384;g3a93a98438f_0_0"/>
          <p:cNvGraphicFramePr/>
          <p:nvPr/>
        </p:nvGraphicFramePr>
        <p:xfrm>
          <a:off x="729525" y="186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{AC7DFFBB-8AFD-48B2-B4EF-CB78546C7C04}</a:tableStyleId>
              </a:tblPr>
              <a:tblGrid>
                <a:gridCol w="3347325"/>
                <a:gridCol w="1904150"/>
                <a:gridCol w="1904150"/>
                <a:gridCol w="1904150"/>
                <a:gridCol w="1904150"/>
                <a:gridCol w="1904150"/>
              </a:tblGrid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Área/Año</a:t>
                      </a:r>
                      <a:endParaRPr b="1" sz="24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Año 1</a:t>
                      </a:r>
                      <a:endParaRPr b="1" sz="24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Año 2</a:t>
                      </a:r>
                      <a:endParaRPr b="1" sz="24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Año 3</a:t>
                      </a:r>
                      <a:endParaRPr b="1" sz="24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Año 4</a:t>
                      </a:r>
                      <a:endParaRPr b="1" sz="24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Año 5</a:t>
                      </a:r>
                      <a:endParaRPr b="1" sz="24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</a:tr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Líder de Producto</a:t>
                      </a:r>
                      <a:endParaRPr b="1" sz="22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Desarrollo Core &amp; QA</a:t>
                      </a:r>
                      <a:endParaRPr b="1" sz="22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Gestión &amp; Comercial</a:t>
                      </a:r>
                      <a:endParaRPr b="1" sz="22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Soporte al Cliente</a:t>
                      </a:r>
                      <a:endParaRPr b="1" sz="22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RR.HH.</a:t>
                      </a:r>
                      <a:endParaRPr b="1" sz="22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TOTAL</a:t>
                      </a:r>
                      <a:endParaRPr b="1" sz="22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10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13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17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21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25</a:t>
                      </a:r>
                      <a:endParaRPr sz="2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93a98438f_0_23"/>
          <p:cNvSpPr/>
          <p:nvPr/>
        </p:nvSpPr>
        <p:spPr>
          <a:xfrm>
            <a:off x="729526" y="545300"/>
            <a:ext cx="13296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5400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Inversión en Marketing</a:t>
            </a:r>
            <a:endParaRPr i="0" sz="54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91" name="Google Shape;391;g3a93a98438f_0_23"/>
          <p:cNvSpPr/>
          <p:nvPr/>
        </p:nvSpPr>
        <p:spPr>
          <a:xfrm>
            <a:off x="12011700" y="712125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2" name="Google Shape;392;g3a93a98438f_0_23"/>
          <p:cNvGraphicFramePr/>
          <p:nvPr/>
        </p:nvGraphicFramePr>
        <p:xfrm>
          <a:off x="537950" y="167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{AC7DFFBB-8AFD-48B2-B4EF-CB78546C7C04}</a:tableStyleId>
              </a:tblPr>
              <a:tblGrid>
                <a:gridCol w="5906025"/>
                <a:gridCol w="1496175"/>
                <a:gridCol w="1496175"/>
                <a:gridCol w="1496175"/>
                <a:gridCol w="1496175"/>
                <a:gridCol w="1496175"/>
              </a:tblGrid>
              <a:tr h="5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Canal\Año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1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2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3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4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5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</a:tr>
              <a:tr h="58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LinkedIn Ads</a:t>
                      </a:r>
                      <a:endParaRPr b="1" i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Google Ads</a:t>
                      </a:r>
                      <a:endParaRPr b="1" i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27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Contenido, SEO y </a:t>
                      </a:r>
                      <a:r>
                        <a:rPr b="1" i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Webinars</a:t>
                      </a:r>
                      <a:endParaRPr b="1" i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36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36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Eventos y Congresos Educativos</a:t>
                      </a:r>
                      <a:endParaRPr b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22,5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30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Software (Email/CRM) y Herramientas</a:t>
                      </a:r>
                      <a:endParaRPr b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1,8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2,7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3,6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Programa de Referidos</a:t>
                      </a:r>
                      <a:endParaRPr b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—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—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13,5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TOTAL</a:t>
                      </a:r>
                      <a:endParaRPr b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117,3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143,7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138,1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143,5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148,5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E6FD"/>
                    </a:solidFill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Inversión “Caso de Éxito” (Canje)</a:t>
                      </a:r>
                      <a:endParaRPr b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54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27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—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—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—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TOTAL GENERAL</a:t>
                      </a:r>
                      <a:endParaRPr b="1" sz="19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171,3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170,7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138,1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143,5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148,5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93a98438f_0_32"/>
          <p:cNvSpPr/>
          <p:nvPr/>
        </p:nvSpPr>
        <p:spPr>
          <a:xfrm>
            <a:off x="729526" y="545300"/>
            <a:ext cx="13296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4450"/>
              <a:buFont typeface="Instrument Sans SemiBold"/>
              <a:buNone/>
            </a:pPr>
            <a:r>
              <a:rPr b="1" lang="en-US" sz="5400">
                <a:solidFill>
                  <a:srgbClr val="091C5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Nuestros Productos</a:t>
            </a:r>
            <a:endParaRPr i="0" sz="5400" u="none" cap="none" strike="noStrike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399" name="Google Shape;399;g3a93a98438f_0_32"/>
          <p:cNvSpPr/>
          <p:nvPr/>
        </p:nvSpPr>
        <p:spPr>
          <a:xfrm>
            <a:off x="12011700" y="712125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0" name="Google Shape;400;g3a93a98438f_0_32"/>
          <p:cNvGraphicFramePr/>
          <p:nvPr/>
        </p:nvGraphicFramePr>
        <p:xfrm>
          <a:off x="729525" y="163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{AC7DFFBB-8AFD-48B2-B4EF-CB78546C7C04}</a:tableStyleId>
              </a:tblPr>
              <a:tblGrid>
                <a:gridCol w="2939050"/>
                <a:gridCol w="5885725"/>
                <a:gridCol w="4391775"/>
              </a:tblGrid>
              <a:tr h="135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Segmento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Oferta Sugerida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Precio de Referencia</a:t>
                      </a:r>
                      <a:b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</a:br>
                      <a:r>
                        <a:rPr b="1" lang="en-US" sz="21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para Colegios (mensual)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  <a:p>
                      <a:pPr indent="0" lvl="0" marL="0" rtl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-US" sz="1900">
                          <a:solidFill>
                            <a:schemeClr val="lt1"/>
                          </a:solidFill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[ARS]</a:t>
                      </a:r>
                      <a:endParaRPr b="1" sz="2100">
                        <a:solidFill>
                          <a:schemeClr val="lt1"/>
                        </a:solidFill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827C"/>
                    </a:solidFill>
                  </a:tcPr>
                </a:tc>
              </a:tr>
              <a:tr h="123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EduFlow Platform</a:t>
                      </a:r>
                      <a:endParaRPr b="1" i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Premium</a:t>
                      </a:r>
                      <a:endParaRPr b="1" i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Suite Completa</a:t>
                      </a:r>
                      <a:endParaRPr sz="2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Plan Estándar + Reporting Avanzado, Imagen Institucional, Soporte </a:t>
                      </a:r>
                      <a:r>
                        <a:rPr i="1"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Premium </a:t>
                      </a: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24 hs.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37921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5.000.000</a:t>
                      </a:r>
                      <a:endParaRPr sz="27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EduFlow Platform</a:t>
                      </a:r>
                      <a:endParaRPr b="1" i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Estándar</a:t>
                      </a:r>
                      <a:endParaRPr b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Plan Básico + </a:t>
                      </a:r>
                      <a:r>
                        <a:rPr i="1"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Dashboards </a:t>
                      </a: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Personalizables,</a:t>
                      </a:r>
                      <a:b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</a:b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Soporte Business Hours, SSO.</a:t>
                      </a:r>
                      <a:endParaRPr sz="2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37921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3.250.000</a:t>
                      </a:r>
                      <a:endParaRPr sz="27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0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EduFlow Platform</a:t>
                      </a:r>
                      <a:endParaRPr b="1" i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Básico</a:t>
                      </a:r>
                      <a:endParaRPr b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Módulos Individuales + </a:t>
                      </a:r>
                      <a:r>
                        <a:rPr i="1"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Dashboards </a:t>
                      </a: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Fijos,</a:t>
                      </a:r>
                      <a:b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</a:b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Onboarding Asistido, Soporte Incluido.</a:t>
                      </a:r>
                      <a:endParaRPr sz="2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37921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2.500.000</a:t>
                      </a:r>
                      <a:endParaRPr sz="27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EduFlow Services</a:t>
                      </a:r>
                      <a:endParaRPr b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Módulos Básicos Individuales</a:t>
                      </a:r>
                      <a:endParaRPr b="1" sz="210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Admisión, Comunicación con Padres, Avisos de Pago y Control de Mora, Reportes Personalizables, Seguimiento Interno de Alumnos.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(No incluye soporte o mantenimiento gratuito)</a:t>
                      </a:r>
                      <a:endParaRPr sz="19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37921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850.000</a:t>
                      </a:r>
                      <a:endParaRPr sz="27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a195326ce_0_7"/>
          <p:cNvSpPr/>
          <p:nvPr/>
        </p:nvSpPr>
        <p:spPr>
          <a:xfrm>
            <a:off x="564000" y="581150"/>
            <a:ext cx="923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Inversión y</a:t>
            </a:r>
            <a:endParaRPr b="1" sz="5400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C53"/>
              </a:buClr>
              <a:buSzPts val="3600"/>
              <a:buFont typeface="Instrument Sans SemiBold"/>
              <a:buNone/>
            </a:pPr>
            <a:r>
              <a:rPr b="1" i="0" lang="en-US" sz="5400" u="none" cap="none" strike="noStrike">
                <a:solidFill>
                  <a:srgbClr val="00324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Rentabilidad Proyectada</a:t>
            </a:r>
            <a:endParaRPr i="0" sz="5400" u="none" cap="none" strike="noStrike">
              <a:solidFill>
                <a:srgbClr val="00324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07" name="Google Shape;407;g39a195326ce_0_7"/>
          <p:cNvSpPr/>
          <p:nvPr/>
        </p:nvSpPr>
        <p:spPr>
          <a:xfrm>
            <a:off x="564000" y="2493875"/>
            <a:ext cx="13350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400"/>
              <a:buFont typeface="Instrument Sans Medium"/>
              <a:buNone/>
            </a:pPr>
            <a:r>
              <a:rPr i="0" lang="en-US" sz="2400" u="none" cap="none" strike="noStrike">
                <a:solidFill>
                  <a:srgbClr val="00827C"/>
                </a:solidFill>
                <a:latin typeface="Merriweather Sans Medium"/>
                <a:ea typeface="Merriweather Sans Medium"/>
                <a:cs typeface="Merriweather Sans Medium"/>
                <a:sym typeface="Merriweather Sans Medium"/>
              </a:rPr>
              <a:t>Una inversión estratégica con un retorno significativo a largo plazo.</a:t>
            </a:r>
            <a:endParaRPr i="0" sz="2400" u="none" cap="none" strike="noStrike">
              <a:solidFill>
                <a:srgbClr val="00827C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408" name="Google Shape;408;g39a195326ce_0_7" title="imagen_2025-11-22_18093259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1528" y="0"/>
            <a:ext cx="6078872" cy="12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9a195326ce_0_7"/>
          <p:cNvSpPr/>
          <p:nvPr/>
        </p:nvSpPr>
        <p:spPr>
          <a:xfrm>
            <a:off x="12011700" y="73593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9a195326ce_0_7"/>
          <p:cNvSpPr/>
          <p:nvPr/>
        </p:nvSpPr>
        <p:spPr>
          <a:xfrm>
            <a:off x="12011700" y="7359300"/>
            <a:ext cx="2618700" cy="10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9a195326ce_0_7"/>
          <p:cNvSpPr/>
          <p:nvPr/>
        </p:nvSpPr>
        <p:spPr>
          <a:xfrm>
            <a:off x="7479075" y="3276000"/>
            <a:ext cx="6608100" cy="13998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9a195326ce_0_7"/>
          <p:cNvSpPr/>
          <p:nvPr/>
        </p:nvSpPr>
        <p:spPr>
          <a:xfrm>
            <a:off x="7731375" y="3348445"/>
            <a:ext cx="60678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26%</a:t>
            </a:r>
            <a:endParaRPr i="0" sz="48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3" name="Google Shape;413;g39a195326ce_0_7"/>
          <p:cNvSpPr/>
          <p:nvPr/>
        </p:nvSpPr>
        <p:spPr>
          <a:xfrm>
            <a:off x="7731375" y="3909278"/>
            <a:ext cx="60678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Tasa Interna de Retorno</a:t>
            </a:r>
            <a:endParaRPr i="0" sz="20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4" name="Google Shape;414;g39a195326ce_0_7"/>
          <p:cNvSpPr/>
          <p:nvPr/>
        </p:nvSpPr>
        <p:spPr>
          <a:xfrm>
            <a:off x="543225" y="3279553"/>
            <a:ext cx="6608100" cy="13998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9a195326ce_0_7"/>
          <p:cNvSpPr/>
          <p:nvPr/>
        </p:nvSpPr>
        <p:spPr>
          <a:xfrm>
            <a:off x="795525" y="3350020"/>
            <a:ext cx="60678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20</a:t>
            </a: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0%</a:t>
            </a:r>
            <a:endParaRPr i="0" sz="48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6" name="Google Shape;416;g39a195326ce_0_7"/>
          <p:cNvSpPr/>
          <p:nvPr/>
        </p:nvSpPr>
        <p:spPr>
          <a:xfrm>
            <a:off x="777675" y="3900227"/>
            <a:ext cx="60678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Rentabilidad</a:t>
            </a:r>
            <a:endParaRPr i="0" sz="2000" u="none" cap="none" strike="noStrike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7" name="Google Shape;417;g39a195326ce_0_7"/>
          <p:cNvSpPr/>
          <p:nvPr/>
        </p:nvSpPr>
        <p:spPr>
          <a:xfrm>
            <a:off x="7461225" y="4919424"/>
            <a:ext cx="6608100" cy="1361700"/>
          </a:xfrm>
          <a:prstGeom prst="roundRect">
            <a:avLst>
              <a:gd fmla="val 16667" name="adj"/>
            </a:avLst>
          </a:prstGeom>
          <a:solidFill>
            <a:srgbClr val="00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9a195326ce_0_7"/>
          <p:cNvSpPr/>
          <p:nvPr/>
        </p:nvSpPr>
        <p:spPr>
          <a:xfrm>
            <a:off x="7713525" y="4987225"/>
            <a:ext cx="60678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615 M</a:t>
            </a: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 ARS</a:t>
            </a:r>
            <a:endParaRPr i="0" sz="4800" u="none" cap="none" strike="noStrike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19" name="Google Shape;419;g39a195326ce_0_7"/>
          <p:cNvSpPr/>
          <p:nvPr/>
        </p:nvSpPr>
        <p:spPr>
          <a:xfrm>
            <a:off x="7713525" y="5562368"/>
            <a:ext cx="60678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Inversión de Socios</a:t>
            </a:r>
            <a:endParaRPr b="1" sz="2000">
              <a:solidFill>
                <a:srgbClr val="C4FDFA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20" name="Google Shape;420;g39a195326ce_0_7"/>
          <p:cNvSpPr/>
          <p:nvPr/>
        </p:nvSpPr>
        <p:spPr>
          <a:xfrm>
            <a:off x="543225" y="4893878"/>
            <a:ext cx="6608100" cy="1399800"/>
          </a:xfrm>
          <a:prstGeom prst="roundRect">
            <a:avLst>
              <a:gd fmla="val 16667" name="adj"/>
            </a:avLst>
          </a:prstGeom>
          <a:solidFill>
            <a:srgbClr val="00324F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9a195326ce_0_7"/>
          <p:cNvSpPr/>
          <p:nvPr/>
        </p:nvSpPr>
        <p:spPr>
          <a:xfrm>
            <a:off x="795525" y="5054432"/>
            <a:ext cx="60678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35%</a:t>
            </a:r>
            <a:endParaRPr i="0" sz="48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22" name="Google Shape;422;g39a195326ce_0_7"/>
          <p:cNvSpPr/>
          <p:nvPr/>
        </p:nvSpPr>
        <p:spPr>
          <a:xfrm>
            <a:off x="795525" y="5601153"/>
            <a:ext cx="6067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1800"/>
              <a:buFont typeface="Instrument Sans SemiBold"/>
              <a:buNone/>
            </a:pPr>
            <a:r>
              <a:rPr b="1" lang="en-US" sz="2000">
                <a:solidFill>
                  <a:srgbClr val="DEEEFF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Participación</a:t>
            </a:r>
            <a:endParaRPr b="1" sz="2000">
              <a:solidFill>
                <a:srgbClr val="DEEEFF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23" name="Google Shape;423;g39a195326ce_0_7"/>
          <p:cNvSpPr/>
          <p:nvPr/>
        </p:nvSpPr>
        <p:spPr>
          <a:xfrm>
            <a:off x="4011150" y="6508201"/>
            <a:ext cx="6608100" cy="1210200"/>
          </a:xfrm>
          <a:prstGeom prst="roundRect">
            <a:avLst>
              <a:gd fmla="val 16667" name="adj"/>
            </a:avLst>
          </a:prstGeom>
          <a:solidFill>
            <a:srgbClr val="17827C"/>
          </a:solidFill>
          <a:ln>
            <a:noFill/>
          </a:ln>
          <a:effectLst>
            <a:outerShdw blurRad="400050" rotWithShape="0" algn="bl" dir="5400000" dist="1524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9a195326ce_0_7"/>
          <p:cNvSpPr/>
          <p:nvPr/>
        </p:nvSpPr>
        <p:spPr>
          <a:xfrm>
            <a:off x="4281300" y="6741604"/>
            <a:ext cx="6067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063"/>
              </a:buClr>
              <a:buSzPts val="4750"/>
              <a:buFont typeface="Instrument Sans SemiBold"/>
              <a:buNone/>
            </a:pPr>
            <a:r>
              <a:rPr b="1" lang="en-US" sz="4800">
                <a:solidFill>
                  <a:srgbClr val="C4FDFA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123 M ARS VAN</a:t>
            </a:r>
            <a:endParaRPr i="0" sz="48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2025-11-21T19:55:24Z</dcterms:created>
</cp:coreProperties>
</file>